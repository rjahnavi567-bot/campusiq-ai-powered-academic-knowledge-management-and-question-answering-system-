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96" r:id="rId1"/>
  </p:sldMasterIdLst>
  <p:sldIdLst>
    <p:sldId id="273" r:id="rId2"/>
    <p:sldId id="272" r:id="rId3"/>
    <p:sldId id="258" r:id="rId4"/>
    <p:sldId id="260" r:id="rId5"/>
    <p:sldId id="261" r:id="rId6"/>
    <p:sldId id="271" r:id="rId7"/>
    <p:sldId id="262" r:id="rId8"/>
    <p:sldId id="263" r:id="rId9"/>
    <p:sldId id="264" r:id="rId10"/>
    <p:sldId id="259" r:id="rId11"/>
    <p:sldId id="270" r:id="rId12"/>
    <p:sldId id="276" r:id="rId13"/>
    <p:sldId id="274" r:id="rId14"/>
    <p:sldId id="275" r:id="rId15"/>
    <p:sldId id="265" r:id="rId16"/>
    <p:sldId id="269" r:id="rId17"/>
    <p:sldId id="267" r:id="rId18"/>
    <p:sldId id="268" r:id="rId19"/>
  </p:sldIdLst>
  <p:sldSz cx="18288000" cy="10287000"/>
  <p:notesSz cx="6858000" cy="9144000"/>
  <p:embeddedFontLst>
    <p:embeddedFont>
      <p:font typeface="Alice" panose="020B0604020202020204" charset="0"/>
      <p:regular r:id="rId20"/>
    </p:embeddedFont>
    <p:embeddedFont>
      <p:font typeface="Cambria Math" panose="02040503050406030204" pitchFamily="18" charset="0"/>
      <p:regular r:id="rId21"/>
    </p:embeddedFont>
    <p:embeddedFont>
      <p:font typeface="Canva Sans" panose="020B0604020202020204" charset="0"/>
      <p:regular r:id="rId22"/>
    </p:embeddedFont>
    <p:embeddedFont>
      <p:font typeface="Canva Sans Bold" panose="020B0604020202020204" charset="0"/>
      <p:regular r:id="rId23"/>
    </p:embeddedFont>
    <p:embeddedFont>
      <p:font typeface="Cooper Hewitt" panose="020B0604020202020204" charset="0"/>
      <p:regular r:id="rId24"/>
    </p:embeddedFont>
    <p:embeddedFont>
      <p:font typeface="Cooper Hewitt Bold" panose="020B0604020202020204" charset="0"/>
      <p:regular r:id="rId25"/>
    </p:embeddedFont>
    <p:embeddedFont>
      <p:font typeface="Inria Serif" panose="020B0604020202020204" charset="0"/>
      <p:regular r:id="rId26"/>
    </p:embeddedFont>
    <p:embeddedFont>
      <p:font typeface="Telegraf" panose="020B0604020202020204" charset="0"/>
      <p:regular r:id="rId27"/>
    </p:embeddedFont>
    <p:embeddedFont>
      <p:font typeface="Times New Roman MT" panose="020B0604020202020204" charset="0"/>
      <p:regular r:id="rId2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DDY JAHNAVI" userId="d2f21b2d741e3993" providerId="LiveId" clId="{D2834F7F-BFAE-497C-8906-E18DE8AFEF0B}"/>
    <pc:docChg chg="modSld">
      <pc:chgData name="REDDY JAHNAVI" userId="d2f21b2d741e3993" providerId="LiveId" clId="{D2834F7F-BFAE-497C-8906-E18DE8AFEF0B}" dt="2026-04-30T10:45:02.593" v="4" actId="1076"/>
      <pc:docMkLst>
        <pc:docMk/>
      </pc:docMkLst>
      <pc:sldChg chg="delSp modSp mod">
        <pc:chgData name="REDDY JAHNAVI" userId="d2f21b2d741e3993" providerId="LiveId" clId="{D2834F7F-BFAE-497C-8906-E18DE8AFEF0B}" dt="2026-04-30T10:45:02.593" v="4" actId="1076"/>
        <pc:sldMkLst>
          <pc:docMk/>
          <pc:sldMk cId="132051850" sldId="271"/>
        </pc:sldMkLst>
        <pc:spChg chg="del mod">
          <ac:chgData name="REDDY JAHNAVI" userId="d2f21b2d741e3993" providerId="LiveId" clId="{D2834F7F-BFAE-497C-8906-E18DE8AFEF0B}" dt="2026-04-30T10:44:56.788" v="2"/>
          <ac:spMkLst>
            <pc:docMk/>
            <pc:sldMk cId="132051850" sldId="271"/>
            <ac:spMk id="3" creationId="{4237D201-B5EC-23C2-921B-17974E76AAC3}"/>
          </ac:spMkLst>
        </pc:spChg>
        <pc:spChg chg="mod">
          <ac:chgData name="REDDY JAHNAVI" userId="d2f21b2d741e3993" providerId="LiveId" clId="{D2834F7F-BFAE-497C-8906-E18DE8AFEF0B}" dt="2026-04-30T10:45:02.593" v="4" actId="1076"/>
          <ac:spMkLst>
            <pc:docMk/>
            <pc:sldMk cId="132051850" sldId="271"/>
            <ac:spMk id="5" creationId="{E369FCC9-1BBE-72F1-0C17-EA0DA168969E}"/>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CBC6BF5-B209-4C78-A208-087EB0D6A64B}" type="doc">
      <dgm:prSet loTypeId="urn:microsoft.com/office/officeart/2005/8/layout/process2" loCatId="process" qsTypeId="urn:microsoft.com/office/officeart/2005/8/quickstyle/simple1" qsCatId="simple" csTypeId="urn:microsoft.com/office/officeart/2005/8/colors/accent0_1" csCatId="mainScheme" phldr="1"/>
      <dgm:spPr/>
      <dgm:t>
        <a:bodyPr/>
        <a:lstStyle/>
        <a:p>
          <a:endParaRPr lang="en-IN"/>
        </a:p>
      </dgm:t>
    </dgm:pt>
    <dgm:pt modelId="{856A3D46-F5E5-421E-970F-958B987141B6}">
      <dgm:prSet phldrT="[Text]" phldr="0" custT="1">
        <dgm:style>
          <a:lnRef idx="1">
            <a:schemeClr val="accent5"/>
          </a:lnRef>
          <a:fillRef idx="2">
            <a:schemeClr val="accent5"/>
          </a:fillRef>
          <a:effectRef idx="1">
            <a:schemeClr val="accent5"/>
          </a:effectRef>
          <a:fontRef idx="minor">
            <a:schemeClr val="dk1"/>
          </a:fontRef>
        </dgm:style>
      </dgm:prSet>
      <dgm:spPr/>
      <dgm:t>
        <a:bodyPr/>
        <a:lstStyle/>
        <a:p>
          <a:pPr algn="ctr"/>
          <a:r>
            <a:rPr lang="en-US" sz="2500" dirty="0"/>
            <a:t>Travel Detection</a:t>
          </a:r>
        </a:p>
        <a:p>
          <a:pPr algn="ctr"/>
          <a:r>
            <a:rPr lang="en-IN" sz="2500" dirty="0"/>
            <a:t>(User confirms travelling</a:t>
          </a:r>
          <a:r>
            <a:rPr lang="en-IN" sz="2300" dirty="0"/>
            <a:t>)</a:t>
          </a:r>
        </a:p>
      </dgm:t>
    </dgm:pt>
    <dgm:pt modelId="{0CA1ACF1-4BDF-4AB9-AB1E-0DB010D531FC}" type="parTrans" cxnId="{A8051024-63D2-4A4E-A6B8-77FF0BD26350}">
      <dgm:prSet/>
      <dgm:spPr/>
      <dgm:t>
        <a:bodyPr/>
        <a:lstStyle/>
        <a:p>
          <a:pPr algn="ctr"/>
          <a:endParaRPr lang="en-IN"/>
        </a:p>
      </dgm:t>
    </dgm:pt>
    <dgm:pt modelId="{CC216B34-CDD0-414D-80AC-EB94E9214FE9}" type="sibTrans" cxnId="{A8051024-63D2-4A4E-A6B8-77FF0BD26350}">
      <dgm:prSet/>
      <dgm:spPr/>
      <dgm:t>
        <a:bodyPr/>
        <a:lstStyle/>
        <a:p>
          <a:pPr algn="ctr"/>
          <a:endParaRPr lang="en-IN"/>
        </a:p>
      </dgm:t>
    </dgm:pt>
    <dgm:pt modelId="{3666207F-737F-4548-8C85-AE862517ECE4}">
      <dgm:prSet phldrT="[Text]" phldr="0" custT="1">
        <dgm:style>
          <a:lnRef idx="1">
            <a:schemeClr val="accent5"/>
          </a:lnRef>
          <a:fillRef idx="2">
            <a:schemeClr val="accent5"/>
          </a:fillRef>
          <a:effectRef idx="1">
            <a:schemeClr val="accent5"/>
          </a:effectRef>
          <a:fontRef idx="minor">
            <a:schemeClr val="dk1"/>
          </a:fontRef>
        </dgm:style>
      </dgm:prSet>
      <dgm:spPr/>
      <dgm:t>
        <a:bodyPr/>
        <a:lstStyle/>
        <a:p>
          <a:pPr algn="ctr"/>
          <a:r>
            <a:rPr lang="en-US" sz="2500" dirty="0"/>
            <a:t>Route &amp; Context Analysis</a:t>
          </a:r>
        </a:p>
        <a:p>
          <a:pPr algn="ctr"/>
          <a:r>
            <a:rPr lang="en-IN" sz="2500" dirty="0"/>
            <a:t>(</a:t>
          </a:r>
          <a:r>
            <a:rPr lang="en-IN" sz="2500" dirty="0" err="1"/>
            <a:t>Route,Time,Crowd</a:t>
          </a:r>
          <a:r>
            <a:rPr lang="en-IN" sz="2500" dirty="0"/>
            <a:t> Density)</a:t>
          </a:r>
        </a:p>
      </dgm:t>
    </dgm:pt>
    <dgm:pt modelId="{ACCC37E2-DDC8-4752-9651-07B3FFEA65F2}" type="parTrans" cxnId="{83CBF783-30D1-448A-A9B6-9AE4CD490536}">
      <dgm:prSet/>
      <dgm:spPr/>
      <dgm:t>
        <a:bodyPr/>
        <a:lstStyle/>
        <a:p>
          <a:pPr algn="ctr"/>
          <a:endParaRPr lang="en-IN"/>
        </a:p>
      </dgm:t>
    </dgm:pt>
    <dgm:pt modelId="{A5E96271-2BD4-4B83-90F6-4129209097E6}" type="sibTrans" cxnId="{83CBF783-30D1-448A-A9B6-9AE4CD490536}">
      <dgm:prSet/>
      <dgm:spPr/>
      <dgm:t>
        <a:bodyPr/>
        <a:lstStyle/>
        <a:p>
          <a:pPr algn="ctr"/>
          <a:endParaRPr lang="en-IN"/>
        </a:p>
      </dgm:t>
    </dgm:pt>
    <dgm:pt modelId="{EC0C48DD-C252-4105-854B-908CA33BC1E2}">
      <dgm:prSet phldrT="[Text]" phldr="0" custT="1">
        <dgm:style>
          <a:lnRef idx="1">
            <a:schemeClr val="accent5"/>
          </a:lnRef>
          <a:fillRef idx="2">
            <a:schemeClr val="accent5"/>
          </a:fillRef>
          <a:effectRef idx="1">
            <a:schemeClr val="accent5"/>
          </a:effectRef>
          <a:fontRef idx="minor">
            <a:schemeClr val="dk1"/>
          </a:fontRef>
        </dgm:style>
      </dgm:prSet>
      <dgm:spPr/>
      <dgm:t>
        <a:bodyPr/>
        <a:lstStyle/>
        <a:p>
          <a:pPr algn="ctr"/>
          <a:r>
            <a:rPr lang="en-US" sz="2500" dirty="0"/>
            <a:t>App setup &amp; permissions</a:t>
          </a:r>
        </a:p>
        <a:p>
          <a:pPr algn="ctr"/>
          <a:r>
            <a:rPr lang="en-IN" sz="2500" dirty="0"/>
            <a:t>(</a:t>
          </a:r>
          <a:r>
            <a:rPr lang="en-IN" sz="2500" dirty="0" err="1"/>
            <a:t>Location,Mic,SMS,Bg</a:t>
          </a:r>
          <a:r>
            <a:rPr lang="en-IN" sz="2500" dirty="0"/>
            <a:t>)</a:t>
          </a:r>
        </a:p>
      </dgm:t>
    </dgm:pt>
    <dgm:pt modelId="{32EDFD03-1992-45E0-8818-0952536D0EE3}" type="sibTrans" cxnId="{AE4BC7BA-E0C8-4E9D-9805-2C282474FF71}">
      <dgm:prSet/>
      <dgm:spPr/>
      <dgm:t>
        <a:bodyPr/>
        <a:lstStyle/>
        <a:p>
          <a:pPr algn="ctr"/>
          <a:endParaRPr lang="en-IN"/>
        </a:p>
      </dgm:t>
    </dgm:pt>
    <dgm:pt modelId="{F38E1F65-2806-4963-ADAD-E407118FB8A2}" type="parTrans" cxnId="{AE4BC7BA-E0C8-4E9D-9805-2C282474FF71}">
      <dgm:prSet/>
      <dgm:spPr/>
      <dgm:t>
        <a:bodyPr/>
        <a:lstStyle/>
        <a:p>
          <a:pPr algn="ctr"/>
          <a:endParaRPr lang="en-IN"/>
        </a:p>
      </dgm:t>
    </dgm:pt>
    <dgm:pt modelId="{BFA856A6-00F0-4C17-837B-A3B285894126}">
      <dgm:prSet phldrT="[Text]" phldr="0" custT="1">
        <dgm:style>
          <a:lnRef idx="1">
            <a:schemeClr val="accent5"/>
          </a:lnRef>
          <a:fillRef idx="2">
            <a:schemeClr val="accent5"/>
          </a:fillRef>
          <a:effectRef idx="1">
            <a:schemeClr val="accent5"/>
          </a:effectRef>
          <a:fontRef idx="minor">
            <a:schemeClr val="dk1"/>
          </a:fontRef>
        </dgm:style>
      </dgm:prSet>
      <dgm:spPr/>
      <dgm:t>
        <a:bodyPr/>
        <a:lstStyle/>
        <a:p>
          <a:pPr algn="ctr"/>
          <a:r>
            <a:rPr lang="en-US" sz="2500" dirty="0"/>
            <a:t>Continuous Background</a:t>
          </a:r>
        </a:p>
        <a:p>
          <a:pPr algn="ctr"/>
          <a:r>
            <a:rPr lang="en-IN" sz="2500" dirty="0"/>
            <a:t>Monitoring (GPS &amp; Movement)</a:t>
          </a:r>
        </a:p>
      </dgm:t>
    </dgm:pt>
    <dgm:pt modelId="{6EB0B8A3-5A38-4F52-9C26-DD481BFAF943}" type="parTrans" cxnId="{2D7358C4-4389-4836-8E0E-8BEB35BB5751}">
      <dgm:prSet/>
      <dgm:spPr/>
      <dgm:t>
        <a:bodyPr/>
        <a:lstStyle/>
        <a:p>
          <a:pPr algn="ctr"/>
          <a:endParaRPr lang="en-IN"/>
        </a:p>
      </dgm:t>
    </dgm:pt>
    <dgm:pt modelId="{EC229FB8-C7D3-4A16-9DD8-87995D17DF98}" type="sibTrans" cxnId="{2D7358C4-4389-4836-8E0E-8BEB35BB5751}">
      <dgm:prSet/>
      <dgm:spPr/>
      <dgm:t>
        <a:bodyPr/>
        <a:lstStyle/>
        <a:p>
          <a:pPr algn="ctr"/>
          <a:endParaRPr lang="en-IN"/>
        </a:p>
      </dgm:t>
    </dgm:pt>
    <dgm:pt modelId="{394B303C-8DD7-4ABE-8216-27CAB74AF159}" type="pres">
      <dgm:prSet presAssocID="{BCBC6BF5-B209-4C78-A208-087EB0D6A64B}" presName="linearFlow" presStyleCnt="0">
        <dgm:presLayoutVars>
          <dgm:resizeHandles val="exact"/>
        </dgm:presLayoutVars>
      </dgm:prSet>
      <dgm:spPr/>
    </dgm:pt>
    <dgm:pt modelId="{C16AA5E3-6388-4D7F-A632-4EB550A0CC27}" type="pres">
      <dgm:prSet presAssocID="{EC0C48DD-C252-4105-854B-908CA33BC1E2}" presName="node" presStyleLbl="node1" presStyleIdx="0" presStyleCnt="4" custScaleX="214528">
        <dgm:presLayoutVars>
          <dgm:bulletEnabled val="1"/>
        </dgm:presLayoutVars>
      </dgm:prSet>
      <dgm:spPr/>
    </dgm:pt>
    <dgm:pt modelId="{57FE75AE-6BA7-4EA6-A0B1-71E33A4DCF97}" type="pres">
      <dgm:prSet presAssocID="{32EDFD03-1992-45E0-8818-0952536D0EE3}" presName="sibTrans" presStyleLbl="sibTrans2D1" presStyleIdx="0" presStyleCnt="3"/>
      <dgm:spPr/>
    </dgm:pt>
    <dgm:pt modelId="{EE96BD44-CCE3-4EE5-9D39-8855629E9DCD}" type="pres">
      <dgm:prSet presAssocID="{32EDFD03-1992-45E0-8818-0952536D0EE3}" presName="connectorText" presStyleLbl="sibTrans2D1" presStyleIdx="0" presStyleCnt="3"/>
      <dgm:spPr/>
    </dgm:pt>
    <dgm:pt modelId="{7723884C-C911-4B0C-A293-17A9FCFA97B6}" type="pres">
      <dgm:prSet presAssocID="{856A3D46-F5E5-421E-970F-958B987141B6}" presName="node" presStyleLbl="node1" presStyleIdx="1" presStyleCnt="4" custScaleX="217668">
        <dgm:presLayoutVars>
          <dgm:bulletEnabled val="1"/>
        </dgm:presLayoutVars>
      </dgm:prSet>
      <dgm:spPr/>
    </dgm:pt>
    <dgm:pt modelId="{B9CA772F-9864-4186-9C00-01A646D51852}" type="pres">
      <dgm:prSet presAssocID="{CC216B34-CDD0-414D-80AC-EB94E9214FE9}" presName="sibTrans" presStyleLbl="sibTrans2D1" presStyleIdx="1" presStyleCnt="3"/>
      <dgm:spPr/>
    </dgm:pt>
    <dgm:pt modelId="{699CD2D4-4AA4-4FA4-9E0A-CC441D721223}" type="pres">
      <dgm:prSet presAssocID="{CC216B34-CDD0-414D-80AC-EB94E9214FE9}" presName="connectorText" presStyleLbl="sibTrans2D1" presStyleIdx="1" presStyleCnt="3"/>
      <dgm:spPr/>
    </dgm:pt>
    <dgm:pt modelId="{ADC96396-025C-4F77-8FA7-CC728C22DE4A}" type="pres">
      <dgm:prSet presAssocID="{3666207F-737F-4548-8C85-AE862517ECE4}" presName="node" presStyleLbl="node1" presStyleIdx="2" presStyleCnt="4" custScaleX="212930">
        <dgm:presLayoutVars>
          <dgm:bulletEnabled val="1"/>
        </dgm:presLayoutVars>
      </dgm:prSet>
      <dgm:spPr/>
    </dgm:pt>
    <dgm:pt modelId="{F1A96EAC-357A-4890-A45D-83DD00EF496B}" type="pres">
      <dgm:prSet presAssocID="{A5E96271-2BD4-4B83-90F6-4129209097E6}" presName="sibTrans" presStyleLbl="sibTrans2D1" presStyleIdx="2" presStyleCnt="3"/>
      <dgm:spPr/>
    </dgm:pt>
    <dgm:pt modelId="{7F5302BF-4B0F-4F37-B757-45288F1705BF}" type="pres">
      <dgm:prSet presAssocID="{A5E96271-2BD4-4B83-90F6-4129209097E6}" presName="connectorText" presStyleLbl="sibTrans2D1" presStyleIdx="2" presStyleCnt="3"/>
      <dgm:spPr/>
    </dgm:pt>
    <dgm:pt modelId="{1B892D19-1587-4B89-A145-CF88A1BD8D6C}" type="pres">
      <dgm:prSet presAssocID="{BFA856A6-00F0-4C17-837B-A3B285894126}" presName="node" presStyleLbl="node1" presStyleIdx="3" presStyleCnt="4" custScaleX="213578">
        <dgm:presLayoutVars>
          <dgm:bulletEnabled val="1"/>
        </dgm:presLayoutVars>
      </dgm:prSet>
      <dgm:spPr/>
    </dgm:pt>
  </dgm:ptLst>
  <dgm:cxnLst>
    <dgm:cxn modelId="{86108A04-D4DF-40FB-8268-D6DF67180FE9}" type="presOf" srcId="{A5E96271-2BD4-4B83-90F6-4129209097E6}" destId="{7F5302BF-4B0F-4F37-B757-45288F1705BF}" srcOrd="1" destOrd="0" presId="urn:microsoft.com/office/officeart/2005/8/layout/process2"/>
    <dgm:cxn modelId="{47A9A422-CCA1-4D9F-B061-C6EA241A5B98}" type="presOf" srcId="{CC216B34-CDD0-414D-80AC-EB94E9214FE9}" destId="{B9CA772F-9864-4186-9C00-01A646D51852}" srcOrd="0" destOrd="0" presId="urn:microsoft.com/office/officeart/2005/8/layout/process2"/>
    <dgm:cxn modelId="{A8051024-63D2-4A4E-A6B8-77FF0BD26350}" srcId="{BCBC6BF5-B209-4C78-A208-087EB0D6A64B}" destId="{856A3D46-F5E5-421E-970F-958B987141B6}" srcOrd="1" destOrd="0" parTransId="{0CA1ACF1-4BDF-4AB9-AB1E-0DB010D531FC}" sibTransId="{CC216B34-CDD0-414D-80AC-EB94E9214FE9}"/>
    <dgm:cxn modelId="{F5553338-55C1-4E4A-B441-904BB6B140C0}" type="presOf" srcId="{856A3D46-F5E5-421E-970F-958B987141B6}" destId="{7723884C-C911-4B0C-A293-17A9FCFA97B6}" srcOrd="0" destOrd="0" presId="urn:microsoft.com/office/officeart/2005/8/layout/process2"/>
    <dgm:cxn modelId="{54AD8456-A637-4D6D-9A9D-7702B3FFD0F4}" type="presOf" srcId="{CC216B34-CDD0-414D-80AC-EB94E9214FE9}" destId="{699CD2D4-4AA4-4FA4-9E0A-CC441D721223}" srcOrd="1" destOrd="0" presId="urn:microsoft.com/office/officeart/2005/8/layout/process2"/>
    <dgm:cxn modelId="{EFCF3B7A-FE13-4808-A91B-75561F101585}" type="presOf" srcId="{3666207F-737F-4548-8C85-AE862517ECE4}" destId="{ADC96396-025C-4F77-8FA7-CC728C22DE4A}" srcOrd="0" destOrd="0" presId="urn:microsoft.com/office/officeart/2005/8/layout/process2"/>
    <dgm:cxn modelId="{83CBF783-30D1-448A-A9B6-9AE4CD490536}" srcId="{BCBC6BF5-B209-4C78-A208-087EB0D6A64B}" destId="{3666207F-737F-4548-8C85-AE862517ECE4}" srcOrd="2" destOrd="0" parTransId="{ACCC37E2-DDC8-4752-9651-07B3FFEA65F2}" sibTransId="{A5E96271-2BD4-4B83-90F6-4129209097E6}"/>
    <dgm:cxn modelId="{AE4BC7BA-E0C8-4E9D-9805-2C282474FF71}" srcId="{BCBC6BF5-B209-4C78-A208-087EB0D6A64B}" destId="{EC0C48DD-C252-4105-854B-908CA33BC1E2}" srcOrd="0" destOrd="0" parTransId="{F38E1F65-2806-4963-ADAD-E407118FB8A2}" sibTransId="{32EDFD03-1992-45E0-8818-0952536D0EE3}"/>
    <dgm:cxn modelId="{2D7358C4-4389-4836-8E0E-8BEB35BB5751}" srcId="{BCBC6BF5-B209-4C78-A208-087EB0D6A64B}" destId="{BFA856A6-00F0-4C17-837B-A3B285894126}" srcOrd="3" destOrd="0" parTransId="{6EB0B8A3-5A38-4F52-9C26-DD481BFAF943}" sibTransId="{EC229FB8-C7D3-4A16-9DD8-87995D17DF98}"/>
    <dgm:cxn modelId="{513DB7CC-5B5C-40A0-80F5-A485FDF7A9E3}" type="presOf" srcId="{BFA856A6-00F0-4C17-837B-A3B285894126}" destId="{1B892D19-1587-4B89-A145-CF88A1BD8D6C}" srcOrd="0" destOrd="0" presId="urn:microsoft.com/office/officeart/2005/8/layout/process2"/>
    <dgm:cxn modelId="{892ACCDD-8EEE-43B6-BE9E-322135D9E9BE}" type="presOf" srcId="{A5E96271-2BD4-4B83-90F6-4129209097E6}" destId="{F1A96EAC-357A-4890-A45D-83DD00EF496B}" srcOrd="0" destOrd="0" presId="urn:microsoft.com/office/officeart/2005/8/layout/process2"/>
    <dgm:cxn modelId="{C0F38AE5-262E-4045-93D2-49DF68848E4D}" type="presOf" srcId="{EC0C48DD-C252-4105-854B-908CA33BC1E2}" destId="{C16AA5E3-6388-4D7F-A632-4EB550A0CC27}" srcOrd="0" destOrd="0" presId="urn:microsoft.com/office/officeart/2005/8/layout/process2"/>
    <dgm:cxn modelId="{312CE0F4-83FB-492F-A18E-E80000A32A50}" type="presOf" srcId="{BCBC6BF5-B209-4C78-A208-087EB0D6A64B}" destId="{394B303C-8DD7-4ABE-8216-27CAB74AF159}" srcOrd="0" destOrd="0" presId="urn:microsoft.com/office/officeart/2005/8/layout/process2"/>
    <dgm:cxn modelId="{86D93BFB-4A90-4043-8D66-FD70A76573A3}" type="presOf" srcId="{32EDFD03-1992-45E0-8818-0952536D0EE3}" destId="{EE96BD44-CCE3-4EE5-9D39-8855629E9DCD}" srcOrd="1" destOrd="0" presId="urn:microsoft.com/office/officeart/2005/8/layout/process2"/>
    <dgm:cxn modelId="{2A5E2EFE-55CC-4936-9AB6-C7F5D40084B7}" type="presOf" srcId="{32EDFD03-1992-45E0-8818-0952536D0EE3}" destId="{57FE75AE-6BA7-4EA6-A0B1-71E33A4DCF97}" srcOrd="0" destOrd="0" presId="urn:microsoft.com/office/officeart/2005/8/layout/process2"/>
    <dgm:cxn modelId="{FA21B82C-2650-4020-BF94-D60B18B248C5}" type="presParOf" srcId="{394B303C-8DD7-4ABE-8216-27CAB74AF159}" destId="{C16AA5E3-6388-4D7F-A632-4EB550A0CC27}" srcOrd="0" destOrd="0" presId="urn:microsoft.com/office/officeart/2005/8/layout/process2"/>
    <dgm:cxn modelId="{0E0AD737-2BED-4A25-A715-2CEE20FBE3AF}" type="presParOf" srcId="{394B303C-8DD7-4ABE-8216-27CAB74AF159}" destId="{57FE75AE-6BA7-4EA6-A0B1-71E33A4DCF97}" srcOrd="1" destOrd="0" presId="urn:microsoft.com/office/officeart/2005/8/layout/process2"/>
    <dgm:cxn modelId="{1D9A1D5F-E79D-4FB4-A05F-1B8D68BF13EA}" type="presParOf" srcId="{57FE75AE-6BA7-4EA6-A0B1-71E33A4DCF97}" destId="{EE96BD44-CCE3-4EE5-9D39-8855629E9DCD}" srcOrd="0" destOrd="0" presId="urn:microsoft.com/office/officeart/2005/8/layout/process2"/>
    <dgm:cxn modelId="{CD16B963-CFD4-4864-82D8-2A97FE73CE43}" type="presParOf" srcId="{394B303C-8DD7-4ABE-8216-27CAB74AF159}" destId="{7723884C-C911-4B0C-A293-17A9FCFA97B6}" srcOrd="2" destOrd="0" presId="urn:microsoft.com/office/officeart/2005/8/layout/process2"/>
    <dgm:cxn modelId="{69DC2712-D3BB-423F-B394-C690804E3438}" type="presParOf" srcId="{394B303C-8DD7-4ABE-8216-27CAB74AF159}" destId="{B9CA772F-9864-4186-9C00-01A646D51852}" srcOrd="3" destOrd="0" presId="urn:microsoft.com/office/officeart/2005/8/layout/process2"/>
    <dgm:cxn modelId="{DF24E709-7311-4F4E-B9EB-F399FF621811}" type="presParOf" srcId="{B9CA772F-9864-4186-9C00-01A646D51852}" destId="{699CD2D4-4AA4-4FA4-9E0A-CC441D721223}" srcOrd="0" destOrd="0" presId="urn:microsoft.com/office/officeart/2005/8/layout/process2"/>
    <dgm:cxn modelId="{01C172E2-8231-4F4E-A395-0145487BFC1A}" type="presParOf" srcId="{394B303C-8DD7-4ABE-8216-27CAB74AF159}" destId="{ADC96396-025C-4F77-8FA7-CC728C22DE4A}" srcOrd="4" destOrd="0" presId="urn:microsoft.com/office/officeart/2005/8/layout/process2"/>
    <dgm:cxn modelId="{539A46D9-F17E-485D-9EEE-90CE43DBE725}" type="presParOf" srcId="{394B303C-8DD7-4ABE-8216-27CAB74AF159}" destId="{F1A96EAC-357A-4890-A45D-83DD00EF496B}" srcOrd="5" destOrd="0" presId="urn:microsoft.com/office/officeart/2005/8/layout/process2"/>
    <dgm:cxn modelId="{A8165015-E3FA-4F45-B0F2-05C5B8C3D40A}" type="presParOf" srcId="{F1A96EAC-357A-4890-A45D-83DD00EF496B}" destId="{7F5302BF-4B0F-4F37-B757-45288F1705BF}" srcOrd="0" destOrd="0" presId="urn:microsoft.com/office/officeart/2005/8/layout/process2"/>
    <dgm:cxn modelId="{3121FA12-BB7D-42D0-B722-97B65F31AB44}" type="presParOf" srcId="{394B303C-8DD7-4ABE-8216-27CAB74AF159}" destId="{1B892D19-1587-4B89-A145-CF88A1BD8D6C}" srcOrd="6" destOrd="0" presId="urn:microsoft.com/office/officeart/2005/8/layout/process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BDF5417-6ECB-460A-996D-B210D3EC1679}" type="doc">
      <dgm:prSet loTypeId="urn:microsoft.com/office/officeart/2005/8/layout/process2" loCatId="process" qsTypeId="urn:microsoft.com/office/officeart/2005/8/quickstyle/simple1" qsCatId="simple" csTypeId="urn:microsoft.com/office/officeart/2005/8/colors/accent0_1" csCatId="mainScheme" phldr="1"/>
      <dgm:spPr/>
      <dgm:t>
        <a:bodyPr/>
        <a:lstStyle/>
        <a:p>
          <a:endParaRPr lang="en-IN"/>
        </a:p>
      </dgm:t>
    </dgm:pt>
    <dgm:pt modelId="{E3C2B8E4-A22A-4511-8712-27D9A2101C8E}">
      <dgm:prSet phldrT="[Text]" phldr="0">
        <dgm:style>
          <a:lnRef idx="1">
            <a:schemeClr val="accent5"/>
          </a:lnRef>
          <a:fillRef idx="2">
            <a:schemeClr val="accent5"/>
          </a:fillRef>
          <a:effectRef idx="1">
            <a:schemeClr val="accent5"/>
          </a:effectRef>
          <a:fontRef idx="minor">
            <a:schemeClr val="dk1"/>
          </a:fontRef>
        </dgm:style>
      </dgm:prSet>
      <dgm:spPr/>
      <dgm:t>
        <a:bodyPr/>
        <a:lstStyle/>
        <a:p>
          <a:r>
            <a:rPr lang="en-US" dirty="0"/>
            <a:t>Voice AI Interaction</a:t>
          </a:r>
        </a:p>
        <a:p>
          <a:r>
            <a:rPr lang="en-US" dirty="0"/>
            <a:t>(“Are you safe”)</a:t>
          </a:r>
        </a:p>
      </dgm:t>
    </dgm:pt>
    <dgm:pt modelId="{F6AA4017-3923-4634-8EFC-06C86D8B37B2}" type="parTrans" cxnId="{E53BF138-9CF8-4417-A91B-00680277D799}">
      <dgm:prSet/>
      <dgm:spPr/>
      <dgm:t>
        <a:bodyPr/>
        <a:lstStyle/>
        <a:p>
          <a:endParaRPr lang="en-IN"/>
        </a:p>
      </dgm:t>
    </dgm:pt>
    <dgm:pt modelId="{0A15B0C1-ACF9-45F9-9B16-71D7B3502B18}" type="sibTrans" cxnId="{E53BF138-9CF8-4417-A91B-00680277D799}">
      <dgm:prSet/>
      <dgm:spPr/>
      <dgm:t>
        <a:bodyPr/>
        <a:lstStyle/>
        <a:p>
          <a:endParaRPr lang="en-IN"/>
        </a:p>
      </dgm:t>
    </dgm:pt>
    <dgm:pt modelId="{0FDBFDD9-E308-4A56-BB62-25BF2F0437D5}">
      <dgm:prSet phldrT="[Text]" phldr="0">
        <dgm:style>
          <a:lnRef idx="1">
            <a:schemeClr val="accent5"/>
          </a:lnRef>
          <a:fillRef idx="2">
            <a:schemeClr val="accent5"/>
          </a:fillRef>
          <a:effectRef idx="1">
            <a:schemeClr val="accent5"/>
          </a:effectRef>
          <a:fontRef idx="minor">
            <a:schemeClr val="dk1"/>
          </a:fontRef>
        </dgm:style>
      </dgm:prSet>
      <dgm:spPr/>
      <dgm:t>
        <a:bodyPr/>
        <a:lstStyle/>
        <a:p>
          <a:r>
            <a:rPr lang="en-US" dirty="0"/>
            <a:t>Emergency alerts &amp; offline handling</a:t>
          </a:r>
          <a:endParaRPr lang="en-IN" dirty="0"/>
        </a:p>
      </dgm:t>
    </dgm:pt>
    <dgm:pt modelId="{0B1229F2-7179-4018-B1B8-C482293CE60F}" type="parTrans" cxnId="{E210381F-D547-43F7-8C36-45890E690B3F}">
      <dgm:prSet/>
      <dgm:spPr/>
      <dgm:t>
        <a:bodyPr/>
        <a:lstStyle/>
        <a:p>
          <a:endParaRPr lang="en-IN"/>
        </a:p>
      </dgm:t>
    </dgm:pt>
    <dgm:pt modelId="{19189813-5A96-4ABC-AE14-7AE7B6EA5552}" type="sibTrans" cxnId="{E210381F-D547-43F7-8C36-45890E690B3F}">
      <dgm:prSet/>
      <dgm:spPr/>
      <dgm:t>
        <a:bodyPr/>
        <a:lstStyle/>
        <a:p>
          <a:endParaRPr lang="en-IN"/>
        </a:p>
      </dgm:t>
    </dgm:pt>
    <dgm:pt modelId="{2F976ADC-A714-4801-8C1C-7BC1AE761999}">
      <dgm:prSet phldrT="[Text]" phldr="0">
        <dgm:style>
          <a:lnRef idx="1">
            <a:schemeClr val="accent5"/>
          </a:lnRef>
          <a:fillRef idx="2">
            <a:schemeClr val="accent5"/>
          </a:fillRef>
          <a:effectRef idx="1">
            <a:schemeClr val="accent5"/>
          </a:effectRef>
          <a:fontRef idx="minor">
            <a:schemeClr val="dk1"/>
          </a:fontRef>
        </dgm:style>
      </dgm:prSet>
      <dgm:spPr/>
      <dgm:t>
        <a:bodyPr/>
        <a:lstStyle/>
        <a:p>
          <a:r>
            <a:rPr lang="en-US" dirty="0"/>
            <a:t>Journey completion &amp; safety map update</a:t>
          </a:r>
          <a:endParaRPr lang="en-IN" dirty="0"/>
        </a:p>
      </dgm:t>
    </dgm:pt>
    <dgm:pt modelId="{5561FCA7-EDC3-4749-A405-BB16FA0BE3BC}" type="parTrans" cxnId="{69331D2F-E04A-42C5-8525-C4D975E77657}">
      <dgm:prSet/>
      <dgm:spPr/>
      <dgm:t>
        <a:bodyPr/>
        <a:lstStyle/>
        <a:p>
          <a:endParaRPr lang="en-IN"/>
        </a:p>
      </dgm:t>
    </dgm:pt>
    <dgm:pt modelId="{639FEE07-EDAF-43FA-895F-2FEEA7F335EE}" type="sibTrans" cxnId="{69331D2F-E04A-42C5-8525-C4D975E77657}">
      <dgm:prSet/>
      <dgm:spPr/>
      <dgm:t>
        <a:bodyPr/>
        <a:lstStyle/>
        <a:p>
          <a:endParaRPr lang="en-IN"/>
        </a:p>
      </dgm:t>
    </dgm:pt>
    <dgm:pt modelId="{6D728A66-9507-42A8-AED2-F6E4625E5D80}">
      <dgm:prSet phldrT="[Text]" phldr="0">
        <dgm:style>
          <a:lnRef idx="1">
            <a:schemeClr val="accent5"/>
          </a:lnRef>
          <a:fillRef idx="2">
            <a:schemeClr val="accent5"/>
          </a:fillRef>
          <a:effectRef idx="1">
            <a:schemeClr val="accent5"/>
          </a:effectRef>
          <a:fontRef idx="minor">
            <a:schemeClr val="dk1"/>
          </a:fontRef>
        </dgm:style>
      </dgm:prSet>
      <dgm:spPr/>
      <dgm:t>
        <a:bodyPr/>
        <a:lstStyle/>
        <a:p>
          <a:r>
            <a:rPr lang="en-US" dirty="0"/>
            <a:t>3-step Safety Verification</a:t>
          </a:r>
        </a:p>
        <a:p>
          <a:r>
            <a:rPr lang="en-US" dirty="0"/>
            <a:t>(Voice -&gt; Movement-&gt; Context)</a:t>
          </a:r>
        </a:p>
      </dgm:t>
    </dgm:pt>
    <dgm:pt modelId="{ACBFD2A3-76DF-4378-82F2-07E43DAE49B5}" type="parTrans" cxnId="{3D28EE5F-724C-4CF0-8E1C-452F0FDFA885}">
      <dgm:prSet/>
      <dgm:spPr/>
      <dgm:t>
        <a:bodyPr/>
        <a:lstStyle/>
        <a:p>
          <a:endParaRPr lang="en-IN"/>
        </a:p>
      </dgm:t>
    </dgm:pt>
    <dgm:pt modelId="{A68A942E-552D-418D-A26F-83BCD9487FA7}" type="sibTrans" cxnId="{3D28EE5F-724C-4CF0-8E1C-452F0FDFA885}">
      <dgm:prSet/>
      <dgm:spPr/>
      <dgm:t>
        <a:bodyPr/>
        <a:lstStyle/>
        <a:p>
          <a:endParaRPr lang="en-IN"/>
        </a:p>
      </dgm:t>
    </dgm:pt>
    <dgm:pt modelId="{D182115D-6B19-4E20-85B5-FFD74BC0EE82}" type="pres">
      <dgm:prSet presAssocID="{7BDF5417-6ECB-460A-996D-B210D3EC1679}" presName="linearFlow" presStyleCnt="0">
        <dgm:presLayoutVars>
          <dgm:resizeHandles val="exact"/>
        </dgm:presLayoutVars>
      </dgm:prSet>
      <dgm:spPr/>
    </dgm:pt>
    <dgm:pt modelId="{501021F3-BE13-4BF3-974E-4C12095B3A65}" type="pres">
      <dgm:prSet presAssocID="{E3C2B8E4-A22A-4511-8712-27D9A2101C8E}" presName="node" presStyleLbl="node1" presStyleIdx="0" presStyleCnt="4" custScaleX="233790" custScaleY="110652" custLinFactNeighborX="0" custLinFactNeighborY="8663">
        <dgm:presLayoutVars>
          <dgm:bulletEnabled val="1"/>
        </dgm:presLayoutVars>
      </dgm:prSet>
      <dgm:spPr/>
    </dgm:pt>
    <dgm:pt modelId="{8ED1C567-E238-4137-AC11-15E34F682CD3}" type="pres">
      <dgm:prSet presAssocID="{0A15B0C1-ACF9-45F9-9B16-71D7B3502B18}" presName="sibTrans" presStyleLbl="sibTrans2D1" presStyleIdx="0" presStyleCnt="3"/>
      <dgm:spPr/>
    </dgm:pt>
    <dgm:pt modelId="{D1A4B9A4-600C-411D-8BBC-B1C9B8080580}" type="pres">
      <dgm:prSet presAssocID="{0A15B0C1-ACF9-45F9-9B16-71D7B3502B18}" presName="connectorText" presStyleLbl="sibTrans2D1" presStyleIdx="0" presStyleCnt="3"/>
      <dgm:spPr/>
    </dgm:pt>
    <dgm:pt modelId="{18716139-0BD4-40A7-BB6E-1BEF4A2AFBB9}" type="pres">
      <dgm:prSet presAssocID="{6D728A66-9507-42A8-AED2-F6E4625E5D80}" presName="node" presStyleLbl="node1" presStyleIdx="1" presStyleCnt="4" custScaleX="227945">
        <dgm:presLayoutVars>
          <dgm:bulletEnabled val="1"/>
        </dgm:presLayoutVars>
      </dgm:prSet>
      <dgm:spPr/>
    </dgm:pt>
    <dgm:pt modelId="{0E101728-009B-4FE5-BA16-FC8607332824}" type="pres">
      <dgm:prSet presAssocID="{A68A942E-552D-418D-A26F-83BCD9487FA7}" presName="sibTrans" presStyleLbl="sibTrans2D1" presStyleIdx="1" presStyleCnt="3"/>
      <dgm:spPr/>
    </dgm:pt>
    <dgm:pt modelId="{7BD49850-1320-407B-B550-7AD783D40B21}" type="pres">
      <dgm:prSet presAssocID="{A68A942E-552D-418D-A26F-83BCD9487FA7}" presName="connectorText" presStyleLbl="sibTrans2D1" presStyleIdx="1" presStyleCnt="3"/>
      <dgm:spPr/>
    </dgm:pt>
    <dgm:pt modelId="{D411492E-4E1A-42B9-AC3C-6B34F97BE3DE}" type="pres">
      <dgm:prSet presAssocID="{0FDBFDD9-E308-4A56-BB62-25BF2F0437D5}" presName="node" presStyleLbl="node1" presStyleIdx="2" presStyleCnt="4" custScaleX="222222">
        <dgm:presLayoutVars>
          <dgm:bulletEnabled val="1"/>
        </dgm:presLayoutVars>
      </dgm:prSet>
      <dgm:spPr/>
    </dgm:pt>
    <dgm:pt modelId="{4A51EA06-1B47-49B4-868C-EDDA93C17330}" type="pres">
      <dgm:prSet presAssocID="{19189813-5A96-4ABC-AE14-7AE7B6EA5552}" presName="sibTrans" presStyleLbl="sibTrans2D1" presStyleIdx="2" presStyleCnt="3"/>
      <dgm:spPr/>
    </dgm:pt>
    <dgm:pt modelId="{B1AD8AB5-72FF-4844-A8B4-381BD895C972}" type="pres">
      <dgm:prSet presAssocID="{19189813-5A96-4ABC-AE14-7AE7B6EA5552}" presName="connectorText" presStyleLbl="sibTrans2D1" presStyleIdx="2" presStyleCnt="3"/>
      <dgm:spPr/>
    </dgm:pt>
    <dgm:pt modelId="{6C46D4BD-05BD-4758-8572-3990418DDD40}" type="pres">
      <dgm:prSet presAssocID="{2F976ADC-A714-4801-8C1C-7BC1AE761999}" presName="node" presStyleLbl="node1" presStyleIdx="3" presStyleCnt="4" custScaleX="214815">
        <dgm:presLayoutVars>
          <dgm:bulletEnabled val="1"/>
        </dgm:presLayoutVars>
      </dgm:prSet>
      <dgm:spPr/>
    </dgm:pt>
  </dgm:ptLst>
  <dgm:cxnLst>
    <dgm:cxn modelId="{E210381F-D547-43F7-8C36-45890E690B3F}" srcId="{7BDF5417-6ECB-460A-996D-B210D3EC1679}" destId="{0FDBFDD9-E308-4A56-BB62-25BF2F0437D5}" srcOrd="2" destOrd="0" parTransId="{0B1229F2-7179-4018-B1B8-C482293CE60F}" sibTransId="{19189813-5A96-4ABC-AE14-7AE7B6EA5552}"/>
    <dgm:cxn modelId="{69331D2F-E04A-42C5-8525-C4D975E77657}" srcId="{7BDF5417-6ECB-460A-996D-B210D3EC1679}" destId="{2F976ADC-A714-4801-8C1C-7BC1AE761999}" srcOrd="3" destOrd="0" parTransId="{5561FCA7-EDC3-4749-A405-BB16FA0BE3BC}" sibTransId="{639FEE07-EDAF-43FA-895F-2FEEA7F335EE}"/>
    <dgm:cxn modelId="{E8CB2C34-A266-40F2-A811-B233373442DD}" type="presOf" srcId="{7BDF5417-6ECB-460A-996D-B210D3EC1679}" destId="{D182115D-6B19-4E20-85B5-FFD74BC0EE82}" srcOrd="0" destOrd="0" presId="urn:microsoft.com/office/officeart/2005/8/layout/process2"/>
    <dgm:cxn modelId="{E53BF138-9CF8-4417-A91B-00680277D799}" srcId="{7BDF5417-6ECB-460A-996D-B210D3EC1679}" destId="{E3C2B8E4-A22A-4511-8712-27D9A2101C8E}" srcOrd="0" destOrd="0" parTransId="{F6AA4017-3923-4634-8EFC-06C86D8B37B2}" sibTransId="{0A15B0C1-ACF9-45F9-9B16-71D7B3502B18}"/>
    <dgm:cxn modelId="{3D28EE5F-724C-4CF0-8E1C-452F0FDFA885}" srcId="{7BDF5417-6ECB-460A-996D-B210D3EC1679}" destId="{6D728A66-9507-42A8-AED2-F6E4625E5D80}" srcOrd="1" destOrd="0" parTransId="{ACBFD2A3-76DF-4378-82F2-07E43DAE49B5}" sibTransId="{A68A942E-552D-418D-A26F-83BCD9487FA7}"/>
    <dgm:cxn modelId="{879B3144-C931-40A6-8D9E-1CE9244C5E10}" type="presOf" srcId="{0A15B0C1-ACF9-45F9-9B16-71D7B3502B18}" destId="{8ED1C567-E238-4137-AC11-15E34F682CD3}" srcOrd="0" destOrd="0" presId="urn:microsoft.com/office/officeart/2005/8/layout/process2"/>
    <dgm:cxn modelId="{6DB4E250-131B-409A-96BC-FC056BDAA47B}" type="presOf" srcId="{19189813-5A96-4ABC-AE14-7AE7B6EA5552}" destId="{B1AD8AB5-72FF-4844-A8B4-381BD895C972}" srcOrd="1" destOrd="0" presId="urn:microsoft.com/office/officeart/2005/8/layout/process2"/>
    <dgm:cxn modelId="{2A25DA59-4A13-4FAC-9C26-D3A0D3150B18}" type="presOf" srcId="{A68A942E-552D-418D-A26F-83BCD9487FA7}" destId="{0E101728-009B-4FE5-BA16-FC8607332824}" srcOrd="0" destOrd="0" presId="urn:microsoft.com/office/officeart/2005/8/layout/process2"/>
    <dgm:cxn modelId="{CC642F90-45E6-4B74-B398-54BD70F899C5}" type="presOf" srcId="{A68A942E-552D-418D-A26F-83BCD9487FA7}" destId="{7BD49850-1320-407B-B550-7AD783D40B21}" srcOrd="1" destOrd="0" presId="urn:microsoft.com/office/officeart/2005/8/layout/process2"/>
    <dgm:cxn modelId="{A55A15B3-2CE3-4F38-9AED-F1B4D7D01BE8}" type="presOf" srcId="{19189813-5A96-4ABC-AE14-7AE7B6EA5552}" destId="{4A51EA06-1B47-49B4-868C-EDDA93C17330}" srcOrd="0" destOrd="0" presId="urn:microsoft.com/office/officeart/2005/8/layout/process2"/>
    <dgm:cxn modelId="{54816FC6-9E40-480D-8F35-A562E058CC2A}" type="presOf" srcId="{0FDBFDD9-E308-4A56-BB62-25BF2F0437D5}" destId="{D411492E-4E1A-42B9-AC3C-6B34F97BE3DE}" srcOrd="0" destOrd="0" presId="urn:microsoft.com/office/officeart/2005/8/layout/process2"/>
    <dgm:cxn modelId="{A05251CA-1569-48B9-9978-7193AE610BC7}" type="presOf" srcId="{6D728A66-9507-42A8-AED2-F6E4625E5D80}" destId="{18716139-0BD4-40A7-BB6E-1BEF4A2AFBB9}" srcOrd="0" destOrd="0" presId="urn:microsoft.com/office/officeart/2005/8/layout/process2"/>
    <dgm:cxn modelId="{415724CB-0DD5-464C-A69B-2A4122A6DF14}" type="presOf" srcId="{0A15B0C1-ACF9-45F9-9B16-71D7B3502B18}" destId="{D1A4B9A4-600C-411D-8BBC-B1C9B8080580}" srcOrd="1" destOrd="0" presId="urn:microsoft.com/office/officeart/2005/8/layout/process2"/>
    <dgm:cxn modelId="{333212E1-D1EB-4AD1-B0D1-7F0700D7C2C6}" type="presOf" srcId="{E3C2B8E4-A22A-4511-8712-27D9A2101C8E}" destId="{501021F3-BE13-4BF3-974E-4C12095B3A65}" srcOrd="0" destOrd="0" presId="urn:microsoft.com/office/officeart/2005/8/layout/process2"/>
    <dgm:cxn modelId="{ACE373E9-5271-4FDB-BB13-C5A0ED84917C}" type="presOf" srcId="{2F976ADC-A714-4801-8C1C-7BC1AE761999}" destId="{6C46D4BD-05BD-4758-8572-3990418DDD40}" srcOrd="0" destOrd="0" presId="urn:microsoft.com/office/officeart/2005/8/layout/process2"/>
    <dgm:cxn modelId="{4DB4E2D8-4BE9-4ADE-BC02-A844CA1942C2}" type="presParOf" srcId="{D182115D-6B19-4E20-85B5-FFD74BC0EE82}" destId="{501021F3-BE13-4BF3-974E-4C12095B3A65}" srcOrd="0" destOrd="0" presId="urn:microsoft.com/office/officeart/2005/8/layout/process2"/>
    <dgm:cxn modelId="{6A2FA8D6-08D5-4A22-9E53-161853622B8A}" type="presParOf" srcId="{D182115D-6B19-4E20-85B5-FFD74BC0EE82}" destId="{8ED1C567-E238-4137-AC11-15E34F682CD3}" srcOrd="1" destOrd="0" presId="urn:microsoft.com/office/officeart/2005/8/layout/process2"/>
    <dgm:cxn modelId="{6FAC806E-3438-4282-BC66-9763C303BD16}" type="presParOf" srcId="{8ED1C567-E238-4137-AC11-15E34F682CD3}" destId="{D1A4B9A4-600C-411D-8BBC-B1C9B8080580}" srcOrd="0" destOrd="0" presId="urn:microsoft.com/office/officeart/2005/8/layout/process2"/>
    <dgm:cxn modelId="{0E536659-A08B-4FC9-91A6-EC38699EF978}" type="presParOf" srcId="{D182115D-6B19-4E20-85B5-FFD74BC0EE82}" destId="{18716139-0BD4-40A7-BB6E-1BEF4A2AFBB9}" srcOrd="2" destOrd="0" presId="urn:microsoft.com/office/officeart/2005/8/layout/process2"/>
    <dgm:cxn modelId="{97C85A30-6795-4030-AF5F-BAC3F5F95975}" type="presParOf" srcId="{D182115D-6B19-4E20-85B5-FFD74BC0EE82}" destId="{0E101728-009B-4FE5-BA16-FC8607332824}" srcOrd="3" destOrd="0" presId="urn:microsoft.com/office/officeart/2005/8/layout/process2"/>
    <dgm:cxn modelId="{5A6D7170-83E4-415B-8F1C-E746B4EA220E}" type="presParOf" srcId="{0E101728-009B-4FE5-BA16-FC8607332824}" destId="{7BD49850-1320-407B-B550-7AD783D40B21}" srcOrd="0" destOrd="0" presId="urn:microsoft.com/office/officeart/2005/8/layout/process2"/>
    <dgm:cxn modelId="{41C0D16F-02F1-4F5D-B424-AF591780A29F}" type="presParOf" srcId="{D182115D-6B19-4E20-85B5-FFD74BC0EE82}" destId="{D411492E-4E1A-42B9-AC3C-6B34F97BE3DE}" srcOrd="4" destOrd="0" presId="urn:microsoft.com/office/officeart/2005/8/layout/process2"/>
    <dgm:cxn modelId="{E5DDA2DD-F9A6-40D1-BB49-81D6CEDB681D}" type="presParOf" srcId="{D182115D-6B19-4E20-85B5-FFD74BC0EE82}" destId="{4A51EA06-1B47-49B4-868C-EDDA93C17330}" srcOrd="5" destOrd="0" presId="urn:microsoft.com/office/officeart/2005/8/layout/process2"/>
    <dgm:cxn modelId="{1682C953-C9F4-4791-B4DB-0A147C945F00}" type="presParOf" srcId="{4A51EA06-1B47-49B4-868C-EDDA93C17330}" destId="{B1AD8AB5-72FF-4844-A8B4-381BD895C972}" srcOrd="0" destOrd="0" presId="urn:microsoft.com/office/officeart/2005/8/layout/process2"/>
    <dgm:cxn modelId="{1A507503-DFE0-4CC2-ACF9-26C4C3F682B3}" type="presParOf" srcId="{D182115D-6B19-4E20-85B5-FFD74BC0EE82}" destId="{6C46D4BD-05BD-4758-8572-3990418DDD40}" srcOrd="6" destOrd="0" presId="urn:microsoft.com/office/officeart/2005/8/layout/process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6AA5E3-6388-4D7F-A632-4EB550A0CC27}">
      <dsp:nvSpPr>
        <dsp:cNvPr id="0" name=""/>
        <dsp:cNvSpPr/>
      </dsp:nvSpPr>
      <dsp:spPr>
        <a:xfrm>
          <a:off x="1417139" y="3323"/>
          <a:ext cx="9357721" cy="1236464"/>
        </a:xfrm>
        <a:prstGeom prst="roundRect">
          <a:avLst>
            <a:gd name="adj" fmla="val 10000"/>
          </a:avLst>
        </a:prstGeom>
        <a:gradFill rotWithShape="1">
          <a:gsLst>
            <a:gs pos="0">
              <a:schemeClr val="accent5">
                <a:lumMod val="110000"/>
                <a:satMod val="105000"/>
                <a:tint val="67000"/>
              </a:schemeClr>
            </a:gs>
            <a:gs pos="50000">
              <a:schemeClr val="accent5">
                <a:lumMod val="105000"/>
                <a:satMod val="103000"/>
                <a:tint val="73000"/>
              </a:schemeClr>
            </a:gs>
            <a:gs pos="100000">
              <a:schemeClr val="accent5">
                <a:lumMod val="105000"/>
                <a:satMod val="109000"/>
                <a:tint val="81000"/>
              </a:schemeClr>
            </a:gs>
          </a:gsLst>
          <a:lin ang="5400000" scaled="0"/>
        </a:gradFill>
        <a:ln w="12700" cap="flat" cmpd="sng" algn="ctr">
          <a:solidFill>
            <a:schemeClr val="accent5"/>
          </a:solidFill>
          <a:prstDash val="solid"/>
          <a:miter lim="800000"/>
        </a:ln>
        <a:effectLst/>
      </dsp:spPr>
      <dsp:style>
        <a:lnRef idx="1">
          <a:schemeClr val="accent5"/>
        </a:lnRef>
        <a:fillRef idx="2">
          <a:schemeClr val="accent5"/>
        </a:fillRef>
        <a:effectRef idx="1">
          <a:schemeClr val="accent5"/>
        </a:effectRef>
        <a:fontRef idx="minor">
          <a:schemeClr val="dk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App setup &amp; permissions</a:t>
          </a:r>
        </a:p>
        <a:p>
          <a:pPr marL="0" lvl="0" indent="0" algn="ctr" defTabSz="1111250">
            <a:lnSpc>
              <a:spcPct val="90000"/>
            </a:lnSpc>
            <a:spcBef>
              <a:spcPct val="0"/>
            </a:spcBef>
            <a:spcAft>
              <a:spcPct val="35000"/>
            </a:spcAft>
            <a:buNone/>
          </a:pPr>
          <a:r>
            <a:rPr lang="en-IN" sz="2500" kern="1200" dirty="0"/>
            <a:t>(</a:t>
          </a:r>
          <a:r>
            <a:rPr lang="en-IN" sz="2500" kern="1200" dirty="0" err="1"/>
            <a:t>Location,Mic,SMS,Bg</a:t>
          </a:r>
          <a:r>
            <a:rPr lang="en-IN" sz="2500" kern="1200" dirty="0"/>
            <a:t>)</a:t>
          </a:r>
        </a:p>
      </dsp:txBody>
      <dsp:txXfrm>
        <a:off x="1453354" y="39538"/>
        <a:ext cx="9285291" cy="1164034"/>
      </dsp:txXfrm>
    </dsp:sp>
    <dsp:sp modelId="{57FE75AE-6BA7-4EA6-A0B1-71E33A4DCF97}">
      <dsp:nvSpPr>
        <dsp:cNvPr id="0" name=""/>
        <dsp:cNvSpPr/>
      </dsp:nvSpPr>
      <dsp:spPr>
        <a:xfrm rot="5400000">
          <a:off x="5864162" y="1270699"/>
          <a:ext cx="463674" cy="556408"/>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22350">
            <a:lnSpc>
              <a:spcPct val="90000"/>
            </a:lnSpc>
            <a:spcBef>
              <a:spcPct val="0"/>
            </a:spcBef>
            <a:spcAft>
              <a:spcPct val="35000"/>
            </a:spcAft>
            <a:buNone/>
          </a:pPr>
          <a:endParaRPr lang="en-IN" sz="2300" kern="1200"/>
        </a:p>
      </dsp:txBody>
      <dsp:txXfrm rot="-5400000">
        <a:off x="5929077" y="1317066"/>
        <a:ext cx="333844" cy="324572"/>
      </dsp:txXfrm>
    </dsp:sp>
    <dsp:sp modelId="{7723884C-C911-4B0C-A293-17A9FCFA97B6}">
      <dsp:nvSpPr>
        <dsp:cNvPr id="0" name=""/>
        <dsp:cNvSpPr/>
      </dsp:nvSpPr>
      <dsp:spPr>
        <a:xfrm>
          <a:off x="1348656" y="1858019"/>
          <a:ext cx="9494687" cy="1236464"/>
        </a:xfrm>
        <a:prstGeom prst="roundRect">
          <a:avLst>
            <a:gd name="adj" fmla="val 10000"/>
          </a:avLst>
        </a:prstGeom>
        <a:gradFill rotWithShape="1">
          <a:gsLst>
            <a:gs pos="0">
              <a:schemeClr val="accent5">
                <a:lumMod val="110000"/>
                <a:satMod val="105000"/>
                <a:tint val="67000"/>
              </a:schemeClr>
            </a:gs>
            <a:gs pos="50000">
              <a:schemeClr val="accent5">
                <a:lumMod val="105000"/>
                <a:satMod val="103000"/>
                <a:tint val="73000"/>
              </a:schemeClr>
            </a:gs>
            <a:gs pos="100000">
              <a:schemeClr val="accent5">
                <a:lumMod val="105000"/>
                <a:satMod val="109000"/>
                <a:tint val="81000"/>
              </a:schemeClr>
            </a:gs>
          </a:gsLst>
          <a:lin ang="5400000" scaled="0"/>
        </a:gradFill>
        <a:ln w="12700" cap="flat" cmpd="sng" algn="ctr">
          <a:solidFill>
            <a:schemeClr val="accent5"/>
          </a:solidFill>
          <a:prstDash val="solid"/>
          <a:miter lim="800000"/>
        </a:ln>
        <a:effectLst/>
      </dsp:spPr>
      <dsp:style>
        <a:lnRef idx="1">
          <a:schemeClr val="accent5"/>
        </a:lnRef>
        <a:fillRef idx="2">
          <a:schemeClr val="accent5"/>
        </a:fillRef>
        <a:effectRef idx="1">
          <a:schemeClr val="accent5"/>
        </a:effectRef>
        <a:fontRef idx="minor">
          <a:schemeClr val="dk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Travel Detection</a:t>
          </a:r>
        </a:p>
        <a:p>
          <a:pPr marL="0" lvl="0" indent="0" algn="ctr" defTabSz="1111250">
            <a:lnSpc>
              <a:spcPct val="90000"/>
            </a:lnSpc>
            <a:spcBef>
              <a:spcPct val="0"/>
            </a:spcBef>
            <a:spcAft>
              <a:spcPct val="35000"/>
            </a:spcAft>
            <a:buNone/>
          </a:pPr>
          <a:r>
            <a:rPr lang="en-IN" sz="2500" kern="1200" dirty="0"/>
            <a:t>(User confirms travelling</a:t>
          </a:r>
          <a:r>
            <a:rPr lang="en-IN" sz="2300" kern="1200" dirty="0"/>
            <a:t>)</a:t>
          </a:r>
        </a:p>
      </dsp:txBody>
      <dsp:txXfrm>
        <a:off x="1384871" y="1894234"/>
        <a:ext cx="9422257" cy="1164034"/>
      </dsp:txXfrm>
    </dsp:sp>
    <dsp:sp modelId="{B9CA772F-9864-4186-9C00-01A646D51852}">
      <dsp:nvSpPr>
        <dsp:cNvPr id="0" name=""/>
        <dsp:cNvSpPr/>
      </dsp:nvSpPr>
      <dsp:spPr>
        <a:xfrm rot="5400000">
          <a:off x="5864162" y="3125395"/>
          <a:ext cx="463674" cy="556408"/>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22350">
            <a:lnSpc>
              <a:spcPct val="90000"/>
            </a:lnSpc>
            <a:spcBef>
              <a:spcPct val="0"/>
            </a:spcBef>
            <a:spcAft>
              <a:spcPct val="35000"/>
            </a:spcAft>
            <a:buNone/>
          </a:pPr>
          <a:endParaRPr lang="en-IN" sz="2300" kern="1200"/>
        </a:p>
      </dsp:txBody>
      <dsp:txXfrm rot="-5400000">
        <a:off x="5929077" y="3171762"/>
        <a:ext cx="333844" cy="324572"/>
      </dsp:txXfrm>
    </dsp:sp>
    <dsp:sp modelId="{ADC96396-025C-4F77-8FA7-CC728C22DE4A}">
      <dsp:nvSpPr>
        <dsp:cNvPr id="0" name=""/>
        <dsp:cNvSpPr/>
      </dsp:nvSpPr>
      <dsp:spPr>
        <a:xfrm>
          <a:off x="1451991" y="3712716"/>
          <a:ext cx="9288016" cy="1236464"/>
        </a:xfrm>
        <a:prstGeom prst="roundRect">
          <a:avLst>
            <a:gd name="adj" fmla="val 10000"/>
          </a:avLst>
        </a:prstGeom>
        <a:gradFill rotWithShape="1">
          <a:gsLst>
            <a:gs pos="0">
              <a:schemeClr val="accent5">
                <a:lumMod val="110000"/>
                <a:satMod val="105000"/>
                <a:tint val="67000"/>
              </a:schemeClr>
            </a:gs>
            <a:gs pos="50000">
              <a:schemeClr val="accent5">
                <a:lumMod val="105000"/>
                <a:satMod val="103000"/>
                <a:tint val="73000"/>
              </a:schemeClr>
            </a:gs>
            <a:gs pos="100000">
              <a:schemeClr val="accent5">
                <a:lumMod val="105000"/>
                <a:satMod val="109000"/>
                <a:tint val="81000"/>
              </a:schemeClr>
            </a:gs>
          </a:gsLst>
          <a:lin ang="5400000" scaled="0"/>
        </a:gradFill>
        <a:ln w="12700" cap="flat" cmpd="sng" algn="ctr">
          <a:solidFill>
            <a:schemeClr val="accent5"/>
          </a:solidFill>
          <a:prstDash val="solid"/>
          <a:miter lim="800000"/>
        </a:ln>
        <a:effectLst/>
      </dsp:spPr>
      <dsp:style>
        <a:lnRef idx="1">
          <a:schemeClr val="accent5"/>
        </a:lnRef>
        <a:fillRef idx="2">
          <a:schemeClr val="accent5"/>
        </a:fillRef>
        <a:effectRef idx="1">
          <a:schemeClr val="accent5"/>
        </a:effectRef>
        <a:fontRef idx="minor">
          <a:schemeClr val="dk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Route &amp; Context Analysis</a:t>
          </a:r>
        </a:p>
        <a:p>
          <a:pPr marL="0" lvl="0" indent="0" algn="ctr" defTabSz="1111250">
            <a:lnSpc>
              <a:spcPct val="90000"/>
            </a:lnSpc>
            <a:spcBef>
              <a:spcPct val="0"/>
            </a:spcBef>
            <a:spcAft>
              <a:spcPct val="35000"/>
            </a:spcAft>
            <a:buNone/>
          </a:pPr>
          <a:r>
            <a:rPr lang="en-IN" sz="2500" kern="1200" dirty="0"/>
            <a:t>(</a:t>
          </a:r>
          <a:r>
            <a:rPr lang="en-IN" sz="2500" kern="1200" dirty="0" err="1"/>
            <a:t>Route,Time,Crowd</a:t>
          </a:r>
          <a:r>
            <a:rPr lang="en-IN" sz="2500" kern="1200" dirty="0"/>
            <a:t> Density)</a:t>
          </a:r>
        </a:p>
      </dsp:txBody>
      <dsp:txXfrm>
        <a:off x="1488206" y="3748931"/>
        <a:ext cx="9215586" cy="1164034"/>
      </dsp:txXfrm>
    </dsp:sp>
    <dsp:sp modelId="{F1A96EAC-357A-4890-A45D-83DD00EF496B}">
      <dsp:nvSpPr>
        <dsp:cNvPr id="0" name=""/>
        <dsp:cNvSpPr/>
      </dsp:nvSpPr>
      <dsp:spPr>
        <a:xfrm rot="5400000">
          <a:off x="5864162" y="4980091"/>
          <a:ext cx="463674" cy="556408"/>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22350">
            <a:lnSpc>
              <a:spcPct val="90000"/>
            </a:lnSpc>
            <a:spcBef>
              <a:spcPct val="0"/>
            </a:spcBef>
            <a:spcAft>
              <a:spcPct val="35000"/>
            </a:spcAft>
            <a:buNone/>
          </a:pPr>
          <a:endParaRPr lang="en-IN" sz="2300" kern="1200"/>
        </a:p>
      </dsp:txBody>
      <dsp:txXfrm rot="-5400000">
        <a:off x="5929077" y="5026458"/>
        <a:ext cx="333844" cy="324572"/>
      </dsp:txXfrm>
    </dsp:sp>
    <dsp:sp modelId="{1B892D19-1587-4B89-A145-CF88A1BD8D6C}">
      <dsp:nvSpPr>
        <dsp:cNvPr id="0" name=""/>
        <dsp:cNvSpPr/>
      </dsp:nvSpPr>
      <dsp:spPr>
        <a:xfrm>
          <a:off x="1437859" y="5567412"/>
          <a:ext cx="9316281" cy="1236464"/>
        </a:xfrm>
        <a:prstGeom prst="roundRect">
          <a:avLst>
            <a:gd name="adj" fmla="val 10000"/>
          </a:avLst>
        </a:prstGeom>
        <a:gradFill rotWithShape="1">
          <a:gsLst>
            <a:gs pos="0">
              <a:schemeClr val="accent5">
                <a:lumMod val="110000"/>
                <a:satMod val="105000"/>
                <a:tint val="67000"/>
              </a:schemeClr>
            </a:gs>
            <a:gs pos="50000">
              <a:schemeClr val="accent5">
                <a:lumMod val="105000"/>
                <a:satMod val="103000"/>
                <a:tint val="73000"/>
              </a:schemeClr>
            </a:gs>
            <a:gs pos="100000">
              <a:schemeClr val="accent5">
                <a:lumMod val="105000"/>
                <a:satMod val="109000"/>
                <a:tint val="81000"/>
              </a:schemeClr>
            </a:gs>
          </a:gsLst>
          <a:lin ang="5400000" scaled="0"/>
        </a:gradFill>
        <a:ln w="12700" cap="flat" cmpd="sng" algn="ctr">
          <a:solidFill>
            <a:schemeClr val="accent5"/>
          </a:solidFill>
          <a:prstDash val="solid"/>
          <a:miter lim="800000"/>
        </a:ln>
        <a:effectLst/>
      </dsp:spPr>
      <dsp:style>
        <a:lnRef idx="1">
          <a:schemeClr val="accent5"/>
        </a:lnRef>
        <a:fillRef idx="2">
          <a:schemeClr val="accent5"/>
        </a:fillRef>
        <a:effectRef idx="1">
          <a:schemeClr val="accent5"/>
        </a:effectRef>
        <a:fontRef idx="minor">
          <a:schemeClr val="dk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Continuous Background</a:t>
          </a:r>
        </a:p>
        <a:p>
          <a:pPr marL="0" lvl="0" indent="0" algn="ctr" defTabSz="1111250">
            <a:lnSpc>
              <a:spcPct val="90000"/>
            </a:lnSpc>
            <a:spcBef>
              <a:spcPct val="0"/>
            </a:spcBef>
            <a:spcAft>
              <a:spcPct val="35000"/>
            </a:spcAft>
            <a:buNone/>
          </a:pPr>
          <a:r>
            <a:rPr lang="en-IN" sz="2500" kern="1200" dirty="0"/>
            <a:t>Monitoring (GPS &amp; Movement)</a:t>
          </a:r>
        </a:p>
      </dsp:txBody>
      <dsp:txXfrm>
        <a:off x="1474074" y="5603627"/>
        <a:ext cx="9243851" cy="116403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1021F3-BE13-4BF3-974E-4C12095B3A65}">
      <dsp:nvSpPr>
        <dsp:cNvPr id="0" name=""/>
        <dsp:cNvSpPr/>
      </dsp:nvSpPr>
      <dsp:spPr>
        <a:xfrm>
          <a:off x="3047999" y="65960"/>
          <a:ext cx="6096001" cy="1602897"/>
        </a:xfrm>
        <a:prstGeom prst="roundRect">
          <a:avLst>
            <a:gd name="adj" fmla="val 10000"/>
          </a:avLst>
        </a:prstGeom>
        <a:gradFill rotWithShape="1">
          <a:gsLst>
            <a:gs pos="0">
              <a:schemeClr val="accent5">
                <a:lumMod val="110000"/>
                <a:satMod val="105000"/>
                <a:tint val="67000"/>
              </a:schemeClr>
            </a:gs>
            <a:gs pos="50000">
              <a:schemeClr val="accent5">
                <a:lumMod val="105000"/>
                <a:satMod val="103000"/>
                <a:tint val="73000"/>
              </a:schemeClr>
            </a:gs>
            <a:gs pos="100000">
              <a:schemeClr val="accent5">
                <a:lumMod val="105000"/>
                <a:satMod val="109000"/>
                <a:tint val="81000"/>
              </a:schemeClr>
            </a:gs>
          </a:gsLst>
          <a:lin ang="5400000" scaled="0"/>
        </a:gradFill>
        <a:ln w="12700" cap="flat" cmpd="sng" algn="ctr">
          <a:solidFill>
            <a:schemeClr val="accent5"/>
          </a:solidFill>
          <a:prstDash val="solid"/>
          <a:miter lim="800000"/>
        </a:ln>
        <a:effectLst/>
      </dsp:spPr>
      <dsp:style>
        <a:lnRef idx="1">
          <a:schemeClr val="accent5"/>
        </a:lnRef>
        <a:fillRef idx="2">
          <a:schemeClr val="accent5"/>
        </a:fillRef>
        <a:effectRef idx="1">
          <a:schemeClr val="accent5"/>
        </a:effectRef>
        <a:fontRef idx="minor">
          <a:schemeClr val="dk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Voice AI Interaction</a:t>
          </a:r>
        </a:p>
        <a:p>
          <a:pPr marL="0" lvl="0" indent="0" algn="ctr" defTabSz="1155700">
            <a:lnSpc>
              <a:spcPct val="90000"/>
            </a:lnSpc>
            <a:spcBef>
              <a:spcPct val="0"/>
            </a:spcBef>
            <a:spcAft>
              <a:spcPct val="35000"/>
            </a:spcAft>
            <a:buNone/>
          </a:pPr>
          <a:r>
            <a:rPr lang="en-US" sz="2600" kern="1200" dirty="0"/>
            <a:t>(“Are you safe”)</a:t>
          </a:r>
        </a:p>
      </dsp:txBody>
      <dsp:txXfrm>
        <a:off x="3094946" y="112907"/>
        <a:ext cx="6002107" cy="1509003"/>
      </dsp:txXfrm>
    </dsp:sp>
    <dsp:sp modelId="{8ED1C567-E238-4137-AC11-15E34F682CD3}">
      <dsp:nvSpPr>
        <dsp:cNvPr id="0" name=""/>
        <dsp:cNvSpPr/>
      </dsp:nvSpPr>
      <dsp:spPr>
        <a:xfrm rot="5400000">
          <a:off x="5847918" y="1673700"/>
          <a:ext cx="496163" cy="651867"/>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IN" sz="1900" kern="1200"/>
        </a:p>
      </dsp:txBody>
      <dsp:txXfrm rot="-5400000">
        <a:off x="5900440" y="1751552"/>
        <a:ext cx="391121" cy="347314"/>
      </dsp:txXfrm>
    </dsp:sp>
    <dsp:sp modelId="{18716139-0BD4-40A7-BB6E-1BEF4A2AFBB9}">
      <dsp:nvSpPr>
        <dsp:cNvPr id="0" name=""/>
        <dsp:cNvSpPr/>
      </dsp:nvSpPr>
      <dsp:spPr>
        <a:xfrm>
          <a:off x="3124202" y="2330409"/>
          <a:ext cx="5943594" cy="1448593"/>
        </a:xfrm>
        <a:prstGeom prst="roundRect">
          <a:avLst>
            <a:gd name="adj" fmla="val 10000"/>
          </a:avLst>
        </a:prstGeom>
        <a:gradFill rotWithShape="1">
          <a:gsLst>
            <a:gs pos="0">
              <a:schemeClr val="accent5">
                <a:lumMod val="110000"/>
                <a:satMod val="105000"/>
                <a:tint val="67000"/>
              </a:schemeClr>
            </a:gs>
            <a:gs pos="50000">
              <a:schemeClr val="accent5">
                <a:lumMod val="105000"/>
                <a:satMod val="103000"/>
                <a:tint val="73000"/>
              </a:schemeClr>
            </a:gs>
            <a:gs pos="100000">
              <a:schemeClr val="accent5">
                <a:lumMod val="105000"/>
                <a:satMod val="109000"/>
                <a:tint val="81000"/>
              </a:schemeClr>
            </a:gs>
          </a:gsLst>
          <a:lin ang="5400000" scaled="0"/>
        </a:gradFill>
        <a:ln w="12700" cap="flat" cmpd="sng" algn="ctr">
          <a:solidFill>
            <a:schemeClr val="accent5"/>
          </a:solidFill>
          <a:prstDash val="solid"/>
          <a:miter lim="800000"/>
        </a:ln>
        <a:effectLst/>
      </dsp:spPr>
      <dsp:style>
        <a:lnRef idx="1">
          <a:schemeClr val="accent5"/>
        </a:lnRef>
        <a:fillRef idx="2">
          <a:schemeClr val="accent5"/>
        </a:fillRef>
        <a:effectRef idx="1">
          <a:schemeClr val="accent5"/>
        </a:effectRef>
        <a:fontRef idx="minor">
          <a:schemeClr val="dk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3-step Safety Verification</a:t>
          </a:r>
        </a:p>
        <a:p>
          <a:pPr marL="0" lvl="0" indent="0" algn="ctr" defTabSz="1111250">
            <a:lnSpc>
              <a:spcPct val="90000"/>
            </a:lnSpc>
            <a:spcBef>
              <a:spcPct val="0"/>
            </a:spcBef>
            <a:spcAft>
              <a:spcPct val="35000"/>
            </a:spcAft>
            <a:buNone/>
          </a:pPr>
          <a:r>
            <a:rPr lang="en-US" sz="2500" kern="1200" dirty="0"/>
            <a:t>(Voice -&gt; Movement-&gt; Context)</a:t>
          </a:r>
        </a:p>
      </dsp:txBody>
      <dsp:txXfrm>
        <a:off x="3166630" y="2372837"/>
        <a:ext cx="5858738" cy="1363737"/>
      </dsp:txXfrm>
    </dsp:sp>
    <dsp:sp modelId="{0E101728-009B-4FE5-BA16-FC8607332824}">
      <dsp:nvSpPr>
        <dsp:cNvPr id="0" name=""/>
        <dsp:cNvSpPr/>
      </dsp:nvSpPr>
      <dsp:spPr>
        <a:xfrm rot="5400000">
          <a:off x="5824388" y="3815218"/>
          <a:ext cx="543222" cy="651867"/>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IN" sz="1900" kern="1200"/>
        </a:p>
      </dsp:txBody>
      <dsp:txXfrm rot="-5400000">
        <a:off x="5900439" y="3869541"/>
        <a:ext cx="391121" cy="380255"/>
      </dsp:txXfrm>
    </dsp:sp>
    <dsp:sp modelId="{D411492E-4E1A-42B9-AC3C-6B34F97BE3DE}">
      <dsp:nvSpPr>
        <dsp:cNvPr id="0" name=""/>
        <dsp:cNvSpPr/>
      </dsp:nvSpPr>
      <dsp:spPr>
        <a:xfrm>
          <a:off x="3198815" y="4503300"/>
          <a:ext cx="5794369" cy="1448593"/>
        </a:xfrm>
        <a:prstGeom prst="roundRect">
          <a:avLst>
            <a:gd name="adj" fmla="val 10000"/>
          </a:avLst>
        </a:prstGeom>
        <a:gradFill rotWithShape="1">
          <a:gsLst>
            <a:gs pos="0">
              <a:schemeClr val="accent5">
                <a:lumMod val="110000"/>
                <a:satMod val="105000"/>
                <a:tint val="67000"/>
              </a:schemeClr>
            </a:gs>
            <a:gs pos="50000">
              <a:schemeClr val="accent5">
                <a:lumMod val="105000"/>
                <a:satMod val="103000"/>
                <a:tint val="73000"/>
              </a:schemeClr>
            </a:gs>
            <a:gs pos="100000">
              <a:schemeClr val="accent5">
                <a:lumMod val="105000"/>
                <a:satMod val="109000"/>
                <a:tint val="81000"/>
              </a:schemeClr>
            </a:gs>
          </a:gsLst>
          <a:lin ang="5400000" scaled="0"/>
        </a:gradFill>
        <a:ln w="12700" cap="flat" cmpd="sng" algn="ctr">
          <a:solidFill>
            <a:schemeClr val="accent5"/>
          </a:solidFill>
          <a:prstDash val="solid"/>
          <a:miter lim="800000"/>
        </a:ln>
        <a:effectLst/>
      </dsp:spPr>
      <dsp:style>
        <a:lnRef idx="1">
          <a:schemeClr val="accent5"/>
        </a:lnRef>
        <a:fillRef idx="2">
          <a:schemeClr val="accent5"/>
        </a:fillRef>
        <a:effectRef idx="1">
          <a:schemeClr val="accent5"/>
        </a:effectRef>
        <a:fontRef idx="minor">
          <a:schemeClr val="dk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Emergency alerts &amp; offline handling</a:t>
          </a:r>
          <a:endParaRPr lang="en-IN" sz="2500" kern="1200" dirty="0"/>
        </a:p>
      </dsp:txBody>
      <dsp:txXfrm>
        <a:off x="3241243" y="4545728"/>
        <a:ext cx="5709513" cy="1363737"/>
      </dsp:txXfrm>
    </dsp:sp>
    <dsp:sp modelId="{4A51EA06-1B47-49B4-868C-EDDA93C17330}">
      <dsp:nvSpPr>
        <dsp:cNvPr id="0" name=""/>
        <dsp:cNvSpPr/>
      </dsp:nvSpPr>
      <dsp:spPr>
        <a:xfrm rot="5400000">
          <a:off x="5824388" y="5988109"/>
          <a:ext cx="543222" cy="651867"/>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IN" sz="1900" kern="1200"/>
        </a:p>
      </dsp:txBody>
      <dsp:txXfrm rot="-5400000">
        <a:off x="5900439" y="6042432"/>
        <a:ext cx="391121" cy="380255"/>
      </dsp:txXfrm>
    </dsp:sp>
    <dsp:sp modelId="{6C46D4BD-05BD-4758-8572-3990418DDD40}">
      <dsp:nvSpPr>
        <dsp:cNvPr id="0" name=""/>
        <dsp:cNvSpPr/>
      </dsp:nvSpPr>
      <dsp:spPr>
        <a:xfrm>
          <a:off x="3295383" y="6676191"/>
          <a:ext cx="5601233" cy="1448593"/>
        </a:xfrm>
        <a:prstGeom prst="roundRect">
          <a:avLst>
            <a:gd name="adj" fmla="val 10000"/>
          </a:avLst>
        </a:prstGeom>
        <a:gradFill rotWithShape="1">
          <a:gsLst>
            <a:gs pos="0">
              <a:schemeClr val="accent5">
                <a:lumMod val="110000"/>
                <a:satMod val="105000"/>
                <a:tint val="67000"/>
              </a:schemeClr>
            </a:gs>
            <a:gs pos="50000">
              <a:schemeClr val="accent5">
                <a:lumMod val="105000"/>
                <a:satMod val="103000"/>
                <a:tint val="73000"/>
              </a:schemeClr>
            </a:gs>
            <a:gs pos="100000">
              <a:schemeClr val="accent5">
                <a:lumMod val="105000"/>
                <a:satMod val="109000"/>
                <a:tint val="81000"/>
              </a:schemeClr>
            </a:gs>
          </a:gsLst>
          <a:lin ang="5400000" scaled="0"/>
        </a:gradFill>
        <a:ln w="12700" cap="flat" cmpd="sng" algn="ctr">
          <a:solidFill>
            <a:schemeClr val="accent5"/>
          </a:solidFill>
          <a:prstDash val="solid"/>
          <a:miter lim="800000"/>
        </a:ln>
        <a:effectLst/>
      </dsp:spPr>
      <dsp:style>
        <a:lnRef idx="1">
          <a:schemeClr val="accent5"/>
        </a:lnRef>
        <a:fillRef idx="2">
          <a:schemeClr val="accent5"/>
        </a:fillRef>
        <a:effectRef idx="1">
          <a:schemeClr val="accent5"/>
        </a:effectRef>
        <a:fontRef idx="minor">
          <a:schemeClr val="dk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Journey completion &amp; safety map update</a:t>
          </a:r>
          <a:endParaRPr lang="en-IN" sz="2400" kern="1200" dirty="0"/>
        </a:p>
      </dsp:txBody>
      <dsp:txXfrm>
        <a:off x="3337811" y="6718619"/>
        <a:ext cx="5516377" cy="1363737"/>
      </dsp:txXfrm>
    </dsp:sp>
  </dsp:spTree>
</dsp:drawing>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1683545"/>
            <a:ext cx="13716000" cy="3581400"/>
          </a:xfrm>
        </p:spPr>
        <p:txBody>
          <a:bodyPr anchor="b"/>
          <a:lstStyle>
            <a:lvl1pPr algn="ctr">
              <a:defRPr sz="9000"/>
            </a:lvl1pPr>
          </a:lstStyle>
          <a:p>
            <a:r>
              <a:rPr lang="en-US"/>
              <a:t>Click to edit Master title style</a:t>
            </a:r>
            <a:endParaRPr lang="en-US" dirty="0"/>
          </a:p>
        </p:txBody>
      </p:sp>
      <p:sp>
        <p:nvSpPr>
          <p:cNvPr id="3" name="Subtitle 2"/>
          <p:cNvSpPr>
            <a:spLocks noGrp="1"/>
          </p:cNvSpPr>
          <p:nvPr>
            <p:ph type="subTitle" idx="1"/>
          </p:nvPr>
        </p:nvSpPr>
        <p:spPr>
          <a:xfrm>
            <a:off x="2286000" y="5403057"/>
            <a:ext cx="13716000" cy="2483643"/>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576836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778411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47775" y="2564608"/>
            <a:ext cx="15773400" cy="4279106"/>
          </a:xfrm>
        </p:spPr>
        <p:txBody>
          <a:bodyPr anchor="b"/>
          <a:lstStyle>
            <a:lvl1pPr>
              <a:defRPr sz="9000"/>
            </a:lvl1pPr>
          </a:lstStyle>
          <a:p>
            <a:r>
              <a:rPr lang="en-US"/>
              <a:t>Click to edit Master title style</a:t>
            </a:r>
            <a:endParaRPr lang="en-US" dirty="0"/>
          </a:p>
        </p:txBody>
      </p:sp>
      <p:sp>
        <p:nvSpPr>
          <p:cNvPr id="3" name="Text Placeholder 2"/>
          <p:cNvSpPr>
            <a:spLocks noGrp="1"/>
          </p:cNvSpPr>
          <p:nvPr>
            <p:ph type="body" idx="1"/>
          </p:nvPr>
        </p:nvSpPr>
        <p:spPr>
          <a:xfrm>
            <a:off x="1247775" y="6884195"/>
            <a:ext cx="15773400" cy="2250281"/>
          </a:xfrm>
        </p:spPr>
        <p:txBody>
          <a:bodyPr/>
          <a:lstStyle>
            <a:lvl1pPr marL="0" indent="0">
              <a:buNone/>
              <a:defRPr sz="3600">
                <a:solidFill>
                  <a:schemeClr val="tx1">
                    <a:tint val="82000"/>
                  </a:schemeClr>
                </a:solidFill>
              </a:defRPr>
            </a:lvl1pPr>
            <a:lvl2pPr marL="685800" indent="0">
              <a:buNone/>
              <a:defRPr sz="3000">
                <a:solidFill>
                  <a:schemeClr val="tx1">
                    <a:tint val="82000"/>
                  </a:schemeClr>
                </a:solidFill>
              </a:defRPr>
            </a:lvl2pPr>
            <a:lvl3pPr marL="1371600" indent="0">
              <a:buNone/>
              <a:defRPr sz="2700">
                <a:solidFill>
                  <a:schemeClr val="tx1">
                    <a:tint val="82000"/>
                  </a:schemeClr>
                </a:solidFill>
              </a:defRPr>
            </a:lvl3pPr>
            <a:lvl4pPr marL="2057400" indent="0">
              <a:buNone/>
              <a:defRPr sz="2400">
                <a:solidFill>
                  <a:schemeClr val="tx1">
                    <a:tint val="82000"/>
                  </a:schemeClr>
                </a:solidFill>
              </a:defRPr>
            </a:lvl4pPr>
            <a:lvl5pPr marL="2743200" indent="0">
              <a:buNone/>
              <a:defRPr sz="2400">
                <a:solidFill>
                  <a:schemeClr val="tx1">
                    <a:tint val="82000"/>
                  </a:schemeClr>
                </a:solidFill>
              </a:defRPr>
            </a:lvl5pPr>
            <a:lvl6pPr marL="3429000" indent="0">
              <a:buNone/>
              <a:defRPr sz="2400">
                <a:solidFill>
                  <a:schemeClr val="tx1">
                    <a:tint val="82000"/>
                  </a:schemeClr>
                </a:solidFill>
              </a:defRPr>
            </a:lvl6pPr>
            <a:lvl7pPr marL="4114800" indent="0">
              <a:buNone/>
              <a:defRPr sz="2400">
                <a:solidFill>
                  <a:schemeClr val="tx1">
                    <a:tint val="82000"/>
                  </a:schemeClr>
                </a:solidFill>
              </a:defRPr>
            </a:lvl7pPr>
            <a:lvl8pPr marL="4800600" indent="0">
              <a:buNone/>
              <a:defRPr sz="2400">
                <a:solidFill>
                  <a:schemeClr val="tx1">
                    <a:tint val="82000"/>
                  </a:schemeClr>
                </a:solidFill>
              </a:defRPr>
            </a:lvl8pPr>
            <a:lvl9pPr marL="5486400" indent="0">
              <a:buNone/>
              <a:defRPr sz="24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601623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57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9258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204444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9682" y="547688"/>
            <a:ext cx="15773400" cy="1988345"/>
          </a:xfrm>
        </p:spPr>
        <p:txBody>
          <a:bodyPr/>
          <a:lstStyle/>
          <a:p>
            <a:r>
              <a:rPr lang="en-US"/>
              <a:t>Click to edit Master title style</a:t>
            </a:r>
            <a:endParaRPr lang="en-US" dirty="0"/>
          </a:p>
        </p:txBody>
      </p:sp>
      <p:sp>
        <p:nvSpPr>
          <p:cNvPr id="3" name="Text Placeholder 2"/>
          <p:cNvSpPr>
            <a:spLocks noGrp="1"/>
          </p:cNvSpPr>
          <p:nvPr>
            <p:ph type="body" idx="1"/>
          </p:nvPr>
        </p:nvSpPr>
        <p:spPr>
          <a:xfrm>
            <a:off x="1259683" y="2521745"/>
            <a:ext cx="7736681"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1259683" y="3757613"/>
            <a:ext cx="7736681"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9258300" y="2521745"/>
            <a:ext cx="7774782"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9258300" y="3757613"/>
            <a:ext cx="7774782"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4/30/2026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0072004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4/30/2026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5010295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985570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en-US"/>
              <a:t>Click to edit Master title style</a:t>
            </a:r>
            <a:endParaRPr lang="en-US" dirty="0"/>
          </a:p>
        </p:txBody>
      </p:sp>
      <p:sp>
        <p:nvSpPr>
          <p:cNvPr id="3" name="Content Placeholder 2"/>
          <p:cNvSpPr>
            <a:spLocks noGrp="1"/>
          </p:cNvSpPr>
          <p:nvPr>
            <p:ph idx="1"/>
          </p:nvPr>
        </p:nvSpPr>
        <p:spPr>
          <a:xfrm>
            <a:off x="7774782" y="1481138"/>
            <a:ext cx="9258300" cy="7310438"/>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572940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774782" y="1481138"/>
            <a:ext cx="9258300" cy="7310438"/>
          </a:xfrm>
        </p:spPr>
        <p:txBody>
          <a:bodyPr anchor="t"/>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t>Click icon to add picture</a:t>
            </a:r>
            <a:endParaRPr lang="en-US" dirty="0"/>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783199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191447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087350" y="547688"/>
            <a:ext cx="3943350" cy="871775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57300" y="547688"/>
            <a:ext cx="11601450" cy="871775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197722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57300" y="9534526"/>
            <a:ext cx="4114800" cy="547688"/>
          </a:xfrm>
          <a:prstGeom prst="rect">
            <a:avLst/>
          </a:prstGeom>
        </p:spPr>
        <p:txBody>
          <a:bodyPr vert="horz" lIns="91440" tIns="45720" rIns="91440" bIns="45720" rtlCol="0" anchor="ctr"/>
          <a:lstStyle>
            <a:lvl1pPr algn="l">
              <a:defRPr sz="1800">
                <a:solidFill>
                  <a:schemeClr val="tx1">
                    <a:tint val="82000"/>
                  </a:schemeClr>
                </a:solidFill>
              </a:defRPr>
            </a:lvl1pPr>
          </a:lstStyle>
          <a:p>
            <a:fld id="{1D8BD707-D9CF-40AE-B4C6-C98DA3205C09}" type="datetimeFigureOut">
              <a:rPr lang="en-US" smtClean="0"/>
              <a:pPr/>
              <a:t>4/30/2026</a:t>
            </a:fld>
            <a:endParaRPr lang="en-US"/>
          </a:p>
        </p:txBody>
      </p:sp>
      <p:sp>
        <p:nvSpPr>
          <p:cNvPr id="5" name="Footer Placeholder 4"/>
          <p:cNvSpPr>
            <a:spLocks noGrp="1"/>
          </p:cNvSpPr>
          <p:nvPr>
            <p:ph type="ftr" sz="quarter" idx="3"/>
          </p:nvPr>
        </p:nvSpPr>
        <p:spPr>
          <a:xfrm>
            <a:off x="6057900" y="9534526"/>
            <a:ext cx="6172200" cy="547688"/>
          </a:xfrm>
          <a:prstGeom prst="rect">
            <a:avLst/>
          </a:prstGeom>
        </p:spPr>
        <p:txBody>
          <a:bodyPr vert="horz" lIns="91440" tIns="45720" rIns="91440" bIns="45720" rtlCol="0" anchor="ctr"/>
          <a:lstStyle>
            <a:lvl1pPr algn="ctr">
              <a:defRPr sz="18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12915900" y="9534526"/>
            <a:ext cx="4114800" cy="547688"/>
          </a:xfrm>
          <a:prstGeom prst="rect">
            <a:avLst/>
          </a:prstGeom>
        </p:spPr>
        <p:txBody>
          <a:bodyPr vert="horz" lIns="91440" tIns="45720" rIns="91440" bIns="45720" rtlCol="0" anchor="ctr"/>
          <a:lstStyle>
            <a:lvl1pPr algn="r">
              <a:defRPr sz="1800">
                <a:solidFill>
                  <a:schemeClr val="tx1">
                    <a:tint val="82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481907516"/>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sv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7.svg"/></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8.svg"/></Relationships>
</file>

<file path=ppt/slides/_rels/slide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8.svg"/></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8.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5.svg"/><Relationship Id="rId7" Type="http://schemas.openxmlformats.org/officeDocument/2006/relationships/diagramColors" Target="../diagrams/colors1.xml"/><Relationship Id="rId2" Type="http://schemas.openxmlformats.org/officeDocument/2006/relationships/image" Target="../media/image4.svg"/><Relationship Id="rId1" Type="http://schemas.openxmlformats.org/officeDocument/2006/relationships/slideLayout" Target="../slideLayouts/slideLayout7.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1.jpeg"/></Relationships>
</file>

<file path=ppt/slides/_rels/slide9.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5.svg"/><Relationship Id="rId7" Type="http://schemas.openxmlformats.org/officeDocument/2006/relationships/diagramQuickStyle" Target="../diagrams/quickStyle2.xml"/><Relationship Id="rId2" Type="http://schemas.openxmlformats.org/officeDocument/2006/relationships/image" Target="../media/image4.svg"/><Relationship Id="rId1" Type="http://schemas.openxmlformats.org/officeDocument/2006/relationships/slideLayout" Target="../slideLayouts/slideLayout7.xml"/><Relationship Id="rId6" Type="http://schemas.openxmlformats.org/officeDocument/2006/relationships/diagramLayout" Target="../diagrams/layout2.xml"/><Relationship Id="rId5" Type="http://schemas.openxmlformats.org/officeDocument/2006/relationships/diagramData" Target="../diagrams/data2.xml"/><Relationship Id="rId10" Type="http://schemas.openxmlformats.org/officeDocument/2006/relationships/image" Target="../media/image12.jpeg"/><Relationship Id="rId4" Type="http://schemas.openxmlformats.org/officeDocument/2006/relationships/image" Target="../media/image7.svg"/><Relationship Id="rId9" Type="http://schemas.microsoft.com/office/2007/relationships/diagramDrawing" Target="../diagrams/drawing2.xml"/></Relationships>
</file>

<file path=ppt/slides/_rels/slide1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7.svg"/><Relationship Id="rId1" Type="http://schemas.openxmlformats.org/officeDocument/2006/relationships/slideLayout" Target="../slideLayouts/slideLayout7.xml"/><Relationship Id="rId4" Type="http://schemas.openxmlformats.org/officeDocument/2006/relationships/image" Target="../media/image13.jpeg"/></Relationships>
</file>

<file path=ppt/slides/_rels/slide11.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7.xml"/><Relationship Id="rId4" Type="http://schemas.openxmlformats.org/officeDocument/2006/relationships/image" Target="../media/image16.jpeg"/></Relationships>
</file>

<file path=ppt/slides/_rels/slide1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7.xml"/><Relationship Id="rId4" Type="http://schemas.openxmlformats.org/officeDocument/2006/relationships/image" Target="../media/image19.jpeg"/></Relationships>
</file>

<file path=ppt/slides/_rels/slide1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7.xml"/><Relationship Id="rId5" Type="http://schemas.openxmlformats.org/officeDocument/2006/relationships/image" Target="../media/image23.jpeg"/><Relationship Id="rId4" Type="http://schemas.openxmlformats.org/officeDocument/2006/relationships/image" Target="../media/image22.jpeg"/></Relationships>
</file>

<file path=ppt/slides/_rels/slide1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5.svg"/><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4.sv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1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sv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B22C3714-8B59-D757-A361-C1F5D5096A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8691"/>
            <a:ext cx="18288000" cy="17272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B97EB82-81CD-0711-A973-EB7548CE36E2}"/>
              </a:ext>
            </a:extLst>
          </p:cNvPr>
          <p:cNvSpPr txBox="1"/>
          <p:nvPr/>
        </p:nvSpPr>
        <p:spPr>
          <a:xfrm>
            <a:off x="3810000" y="2723685"/>
            <a:ext cx="9570720" cy="2246769"/>
          </a:xfrm>
          <a:prstGeom prst="rect">
            <a:avLst/>
          </a:prstGeom>
          <a:noFill/>
        </p:spPr>
        <p:txBody>
          <a:bodyPr wrap="square" rtlCol="0">
            <a:spAutoFit/>
          </a:bodyPr>
          <a:lstStyle/>
          <a:p>
            <a:pPr algn="ctr"/>
            <a:r>
              <a:rPr lang="en-IN" sz="7000" dirty="0"/>
              <a:t>DESIGN THINKING AND INNOVATION LAB</a:t>
            </a:r>
          </a:p>
        </p:txBody>
      </p:sp>
      <p:sp>
        <p:nvSpPr>
          <p:cNvPr id="4" name="TextBox 3">
            <a:extLst>
              <a:ext uri="{FF2B5EF4-FFF2-40B4-BE49-F238E27FC236}">
                <a16:creationId xmlns:a16="http://schemas.microsoft.com/office/drawing/2014/main" id="{3224C153-B9EB-1AAE-C378-652C647DF93D}"/>
              </a:ext>
            </a:extLst>
          </p:cNvPr>
          <p:cNvSpPr txBox="1"/>
          <p:nvPr/>
        </p:nvSpPr>
        <p:spPr>
          <a:xfrm>
            <a:off x="9296400" y="5898248"/>
            <a:ext cx="7798904" cy="2400657"/>
          </a:xfrm>
          <a:prstGeom prst="rect">
            <a:avLst/>
          </a:prstGeom>
          <a:noFill/>
        </p:spPr>
        <p:txBody>
          <a:bodyPr wrap="square" rtlCol="0">
            <a:spAutoFit/>
          </a:bodyPr>
          <a:lstStyle/>
          <a:p>
            <a:r>
              <a:rPr lang="en-US" sz="3000" dirty="0"/>
              <a:t>TEAM – SENTINEL</a:t>
            </a:r>
          </a:p>
          <a:p>
            <a:r>
              <a:rPr lang="en-US" sz="3000" dirty="0"/>
              <a:t>By-</a:t>
            </a:r>
          </a:p>
          <a:p>
            <a:r>
              <a:rPr lang="en-US" sz="3000" dirty="0"/>
              <a:t>     REDDY JAHNAVI – 324103310200</a:t>
            </a:r>
          </a:p>
          <a:p>
            <a:r>
              <a:rPr lang="en-US" sz="3000" dirty="0"/>
              <a:t>     SHAIK SAZIDA – 324103310214</a:t>
            </a:r>
          </a:p>
          <a:p>
            <a:r>
              <a:rPr lang="en-US" sz="3000" dirty="0"/>
              <a:t>     YEDLA JOSHIKA – 324103310260</a:t>
            </a:r>
          </a:p>
        </p:txBody>
      </p:sp>
    </p:spTree>
    <p:extLst>
      <p:ext uri="{BB962C8B-B14F-4D97-AF65-F5344CB8AC3E}">
        <p14:creationId xmlns:p14="http://schemas.microsoft.com/office/powerpoint/2010/main" val="26090060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AFDED934-F423-7A7C-3E74-EDE1034E7546}"/>
            </a:ext>
          </a:extLst>
        </p:cNvPr>
        <p:cNvGrpSpPr/>
        <p:nvPr/>
      </p:nvGrpSpPr>
      <p:grpSpPr>
        <a:xfrm>
          <a:off x="0" y="0"/>
          <a:ext cx="0" cy="0"/>
          <a:chOff x="0" y="0"/>
          <a:chExt cx="0" cy="0"/>
        </a:xfrm>
      </p:grpSpPr>
      <p:sp>
        <p:nvSpPr>
          <p:cNvPr id="4" name="Freeform 4">
            <a:extLst>
              <a:ext uri="{FF2B5EF4-FFF2-40B4-BE49-F238E27FC236}">
                <a16:creationId xmlns:a16="http://schemas.microsoft.com/office/drawing/2014/main" id="{64B89B22-7C04-998C-039C-C91F6FCF9BA6}"/>
              </a:ext>
            </a:extLst>
          </p:cNvPr>
          <p:cNvSpPr/>
          <p:nvPr/>
        </p:nvSpPr>
        <p:spPr>
          <a:xfrm>
            <a:off x="10345214" y="1374543"/>
            <a:ext cx="7395558" cy="7883757"/>
          </a:xfrm>
          <a:custGeom>
            <a:avLst/>
            <a:gdLst/>
            <a:ahLst/>
            <a:cxnLst/>
            <a:rect l="l" t="t" r="r" b="b"/>
            <a:pathLst>
              <a:path w="7395558" h="7883757">
                <a:moveTo>
                  <a:pt x="0" y="0"/>
                </a:moveTo>
                <a:lnTo>
                  <a:pt x="7395558" y="0"/>
                </a:lnTo>
                <a:lnTo>
                  <a:pt x="7395558" y="7883757"/>
                </a:lnTo>
                <a:lnTo>
                  <a:pt x="0" y="7883757"/>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5" name="Freeform 5">
            <a:extLst>
              <a:ext uri="{FF2B5EF4-FFF2-40B4-BE49-F238E27FC236}">
                <a16:creationId xmlns:a16="http://schemas.microsoft.com/office/drawing/2014/main" id="{4AD009D3-332F-78A5-23DF-287BF36CF445}"/>
              </a:ext>
            </a:extLst>
          </p:cNvPr>
          <p:cNvSpPr/>
          <p:nvPr/>
        </p:nvSpPr>
        <p:spPr>
          <a:xfrm>
            <a:off x="13093869" y="7665417"/>
            <a:ext cx="3119622" cy="1469058"/>
          </a:xfrm>
          <a:custGeom>
            <a:avLst/>
            <a:gdLst/>
            <a:ahLst/>
            <a:cxnLst/>
            <a:rect l="l" t="t" r="r" b="b"/>
            <a:pathLst>
              <a:path w="3119622" h="1469058">
                <a:moveTo>
                  <a:pt x="0" y="0"/>
                </a:moveTo>
                <a:lnTo>
                  <a:pt x="3119622" y="0"/>
                </a:lnTo>
                <a:lnTo>
                  <a:pt x="3119622" y="1469058"/>
                </a:lnTo>
                <a:lnTo>
                  <a:pt x="0" y="1469058"/>
                </a:lnTo>
                <a:lnTo>
                  <a:pt x="0" y="0"/>
                </a:lnTo>
                <a:close/>
              </a:path>
            </a:pathLst>
          </a:custGeom>
          <a:blipFill>
            <a:blip r:embed="rId3"/>
            <a:stretch>
              <a:fillRect/>
            </a:stretch>
          </a:blipFill>
        </p:spPr>
      </p:sp>
      <p:sp>
        <p:nvSpPr>
          <p:cNvPr id="7" name="TextBox 7">
            <a:extLst>
              <a:ext uri="{FF2B5EF4-FFF2-40B4-BE49-F238E27FC236}">
                <a16:creationId xmlns:a16="http://schemas.microsoft.com/office/drawing/2014/main" id="{ACAF9E12-2DC7-26F2-0081-AEC97D9F386B}"/>
              </a:ext>
            </a:extLst>
          </p:cNvPr>
          <p:cNvSpPr txBox="1"/>
          <p:nvPr/>
        </p:nvSpPr>
        <p:spPr>
          <a:xfrm>
            <a:off x="1919386" y="2270900"/>
            <a:ext cx="6604472" cy="5454650"/>
          </a:xfrm>
          <a:prstGeom prst="rect">
            <a:avLst/>
          </a:prstGeom>
        </p:spPr>
        <p:txBody>
          <a:bodyPr lIns="0" tIns="0" rIns="0" bIns="0" rtlCol="0" anchor="t">
            <a:spAutoFit/>
          </a:bodyPr>
          <a:lstStyle/>
          <a:p>
            <a:pPr algn="l">
              <a:lnSpc>
                <a:spcPts val="7150"/>
              </a:lnSpc>
            </a:pPr>
            <a:r>
              <a:rPr lang="en-US" sz="6500" dirty="0">
                <a:solidFill>
                  <a:srgbClr val="FAFDFD"/>
                </a:solidFill>
                <a:latin typeface="Inria Serif"/>
                <a:ea typeface="Inria Serif"/>
                <a:cs typeface="Inria Serif"/>
                <a:sym typeface="Inria Serif"/>
              </a:rPr>
              <a:t>SAFE ROUTE: </a:t>
            </a:r>
          </a:p>
          <a:p>
            <a:pPr algn="l">
              <a:lnSpc>
                <a:spcPts val="7150"/>
              </a:lnSpc>
            </a:pPr>
            <a:r>
              <a:rPr lang="en-US" sz="6500" dirty="0">
                <a:solidFill>
                  <a:srgbClr val="FAFDFD"/>
                </a:solidFill>
                <a:latin typeface="Inria Serif"/>
                <a:ea typeface="Inria Serif"/>
                <a:cs typeface="Inria Serif"/>
                <a:sym typeface="Inria Serif"/>
              </a:rPr>
              <a:t>An AI-Based Intelligent Travel Guardian for Women Safety</a:t>
            </a:r>
          </a:p>
          <a:p>
            <a:pPr algn="l">
              <a:lnSpc>
                <a:spcPts val="7150"/>
              </a:lnSpc>
            </a:pPr>
            <a:endParaRPr lang="en-US" sz="6500" dirty="0">
              <a:solidFill>
                <a:srgbClr val="FAFDFD"/>
              </a:solidFill>
              <a:latin typeface="Inria Serif"/>
              <a:ea typeface="Inria Serif"/>
              <a:cs typeface="Inria Serif"/>
              <a:sym typeface="Inria Serif"/>
            </a:endParaRPr>
          </a:p>
        </p:txBody>
      </p:sp>
      <p:sp>
        <p:nvSpPr>
          <p:cNvPr id="9" name="Freeform 2">
            <a:extLst>
              <a:ext uri="{FF2B5EF4-FFF2-40B4-BE49-F238E27FC236}">
                <a16:creationId xmlns:a16="http://schemas.microsoft.com/office/drawing/2014/main" id="{A7A2F0CF-0E3D-B1B1-A94F-68D8E98ACE2D}"/>
              </a:ext>
            </a:extLst>
          </p:cNvPr>
          <p:cNvSpPr/>
          <p:nvPr/>
        </p:nvSpPr>
        <p:spPr>
          <a:xfrm flipH="1" flipV="1">
            <a:off x="0" y="8628726"/>
            <a:ext cx="18288000" cy="1656400"/>
          </a:xfrm>
          <a:custGeom>
            <a:avLst/>
            <a:gdLst/>
            <a:ahLst/>
            <a:cxnLst/>
            <a:rect l="l" t="t" r="r" b="b"/>
            <a:pathLst>
              <a:path w="23426234" h="1656400">
                <a:moveTo>
                  <a:pt x="23426234" y="1656401"/>
                </a:moveTo>
                <a:lnTo>
                  <a:pt x="0" y="1656401"/>
                </a:lnTo>
                <a:lnTo>
                  <a:pt x="0" y="0"/>
                </a:lnTo>
                <a:lnTo>
                  <a:pt x="23426234" y="0"/>
                </a:lnTo>
                <a:lnTo>
                  <a:pt x="23426234" y="1656401"/>
                </a:lnTo>
                <a:close/>
              </a:path>
            </a:pathLst>
          </a:custGeom>
          <a:blipFill>
            <a:blip>
              <a:extLst>
                <a:ext uri="{96DAC541-7B7A-43D3-8B79-37D633B846F1}">
                  <asvg:svgBlip xmlns:asvg="http://schemas.microsoft.com/office/drawing/2016/SVG/main" r:embed="rId4"/>
                </a:ext>
              </a:extLst>
            </a:blip>
            <a:stretch>
              <a:fillRect/>
            </a:stretch>
          </a:blipFill>
        </p:spPr>
      </p:sp>
      <p:sp>
        <p:nvSpPr>
          <p:cNvPr id="10" name="Freeform 4">
            <a:extLst>
              <a:ext uri="{FF2B5EF4-FFF2-40B4-BE49-F238E27FC236}">
                <a16:creationId xmlns:a16="http://schemas.microsoft.com/office/drawing/2014/main" id="{4C2225B4-9506-1779-57E5-E4B58A5DDA11}"/>
              </a:ext>
            </a:extLst>
          </p:cNvPr>
          <p:cNvSpPr/>
          <p:nvPr/>
        </p:nvSpPr>
        <p:spPr>
          <a:xfrm>
            <a:off x="990600" y="647700"/>
            <a:ext cx="1172098" cy="975772"/>
          </a:xfrm>
          <a:custGeom>
            <a:avLst/>
            <a:gdLst/>
            <a:ahLst/>
            <a:cxnLst/>
            <a:rect l="l" t="t" r="r" b="b"/>
            <a:pathLst>
              <a:path w="1172098" h="975772">
                <a:moveTo>
                  <a:pt x="0" y="0"/>
                </a:moveTo>
                <a:lnTo>
                  <a:pt x="1172098" y="0"/>
                </a:lnTo>
                <a:lnTo>
                  <a:pt x="1172098" y="975771"/>
                </a:lnTo>
                <a:lnTo>
                  <a:pt x="0" y="97577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dirty="0"/>
          </a:p>
        </p:txBody>
      </p:sp>
    </p:spTree>
    <p:extLst>
      <p:ext uri="{BB962C8B-B14F-4D97-AF65-F5344CB8AC3E}">
        <p14:creationId xmlns:p14="http://schemas.microsoft.com/office/powerpoint/2010/main" val="16394476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13792200" y="5254805"/>
            <a:ext cx="4186085" cy="3556101"/>
          </a:xfrm>
          <a:custGeom>
            <a:avLst/>
            <a:gdLst/>
            <a:ahLst/>
            <a:cxnLst/>
            <a:rect l="l" t="t" r="r" b="b"/>
            <a:pathLst>
              <a:path w="3119622" h="3171520">
                <a:moveTo>
                  <a:pt x="0" y="0"/>
                </a:moveTo>
                <a:lnTo>
                  <a:pt x="3119623" y="0"/>
                </a:lnTo>
                <a:lnTo>
                  <a:pt x="3119623" y="3171520"/>
                </a:lnTo>
                <a:lnTo>
                  <a:pt x="0" y="3171520"/>
                </a:lnTo>
                <a:lnTo>
                  <a:pt x="0" y="0"/>
                </a:lnTo>
                <a:close/>
              </a:path>
            </a:pathLst>
          </a:custGeom>
          <a:blipFill>
            <a:blip>
              <a:extLst>
                <a:ext uri="{96DAC541-7B7A-43D3-8B79-37D633B846F1}">
                  <asvg:svgBlip xmlns:asvg="http://schemas.microsoft.com/office/drawing/2016/SVG/main" r:embed="rId2"/>
                </a:ext>
              </a:extLst>
            </a:blip>
            <a:stretch>
              <a:fillRect/>
            </a:stretch>
          </a:blipFill>
          <a:ln cap="sq">
            <a:noFill/>
            <a:prstDash val="solid"/>
            <a:miter/>
          </a:ln>
        </p:spPr>
      </p:sp>
      <p:sp>
        <p:nvSpPr>
          <p:cNvPr id="3" name="Freeform 3"/>
          <p:cNvSpPr/>
          <p:nvPr/>
        </p:nvSpPr>
        <p:spPr>
          <a:xfrm>
            <a:off x="14858663" y="1785087"/>
            <a:ext cx="3119622" cy="1469058"/>
          </a:xfrm>
          <a:custGeom>
            <a:avLst/>
            <a:gdLst/>
            <a:ahLst/>
            <a:cxnLst/>
            <a:rect l="l" t="t" r="r" b="b"/>
            <a:pathLst>
              <a:path w="3119622" h="1469058">
                <a:moveTo>
                  <a:pt x="0" y="0"/>
                </a:moveTo>
                <a:lnTo>
                  <a:pt x="3119623" y="0"/>
                </a:lnTo>
                <a:lnTo>
                  <a:pt x="3119623" y="1469058"/>
                </a:lnTo>
                <a:lnTo>
                  <a:pt x="0" y="1469058"/>
                </a:lnTo>
                <a:lnTo>
                  <a:pt x="0" y="0"/>
                </a:lnTo>
                <a:close/>
              </a:path>
            </a:pathLst>
          </a:custGeom>
          <a:blipFill>
            <a:blip r:embed="rId3"/>
            <a:stretch>
              <a:fillRect/>
            </a:stretch>
          </a:blipFill>
        </p:spPr>
      </p:sp>
      <p:sp>
        <p:nvSpPr>
          <p:cNvPr id="5" name="Freeform 5"/>
          <p:cNvSpPr/>
          <p:nvPr/>
        </p:nvSpPr>
        <p:spPr>
          <a:xfrm flipH="1">
            <a:off x="14831642" y="3764743"/>
            <a:ext cx="1053600" cy="877122"/>
          </a:xfrm>
          <a:custGeom>
            <a:avLst/>
            <a:gdLst/>
            <a:ahLst/>
            <a:cxnLst/>
            <a:rect l="l" t="t" r="r" b="b"/>
            <a:pathLst>
              <a:path w="1053600" h="877122">
                <a:moveTo>
                  <a:pt x="1053601" y="0"/>
                </a:moveTo>
                <a:lnTo>
                  <a:pt x="0" y="0"/>
                </a:lnTo>
                <a:lnTo>
                  <a:pt x="0" y="877122"/>
                </a:lnTo>
                <a:lnTo>
                  <a:pt x="1053601" y="877122"/>
                </a:lnTo>
                <a:lnTo>
                  <a:pt x="1053601"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1146835" y="1094606"/>
            <a:ext cx="12689610" cy="6970434"/>
          </a:xfrm>
          <a:prstGeom prst="rect">
            <a:avLst/>
          </a:prstGeom>
        </p:spPr>
        <p:txBody>
          <a:bodyPr lIns="0" tIns="0" rIns="0" bIns="0" rtlCol="0" anchor="t">
            <a:spAutoFit/>
          </a:bodyPr>
          <a:lstStyle/>
          <a:p>
            <a:pPr marL="914400" indent="-914400">
              <a:lnSpc>
                <a:spcPts val="5500"/>
              </a:lnSpc>
              <a:buAutoNum type="arabicPeriod"/>
            </a:pPr>
            <a:r>
              <a:rPr lang="en-US" sz="4500" b="1" dirty="0">
                <a:solidFill>
                  <a:schemeClr val="tx2">
                    <a:lumMod val="40000"/>
                    <a:lumOff val="60000"/>
                  </a:schemeClr>
                </a:solidFill>
                <a:latin typeface="Times New Roman" panose="02020603050405020304" pitchFamily="18" charset="0"/>
                <a:ea typeface="Inria Serif"/>
                <a:cs typeface="Times New Roman" panose="02020603050405020304" pitchFamily="18" charset="0"/>
                <a:sym typeface="Inria Serif"/>
              </a:rPr>
              <a:t>EMPATHIZE – Identifying the Problem</a:t>
            </a:r>
          </a:p>
          <a:p>
            <a:pPr>
              <a:lnSpc>
                <a:spcPts val="5500"/>
              </a:lnSpc>
            </a:pPr>
            <a:endParaRPr lang="en-US" sz="3000" dirty="0">
              <a:solidFill>
                <a:schemeClr val="tx2">
                  <a:lumMod val="40000"/>
                  <a:lumOff val="60000"/>
                </a:schemeClr>
              </a:solidFill>
              <a:latin typeface="Inria Serif"/>
              <a:ea typeface="Inria Serif"/>
              <a:cs typeface="Inria Serif"/>
              <a:sym typeface="Inria Serif"/>
            </a:endParaRPr>
          </a:p>
          <a:p>
            <a:pPr marL="457200" indent="-457200">
              <a:lnSpc>
                <a:spcPts val="5500"/>
              </a:lnSpc>
              <a:buFont typeface="Wingdings" panose="05000000000000000000" pitchFamily="2" charset="2"/>
              <a:buChar char="§"/>
            </a:pPr>
            <a:r>
              <a:rPr lang="en-US" sz="3000" dirty="0">
                <a:solidFill>
                  <a:srgbClr val="FAFDFD"/>
                </a:solidFill>
                <a:latin typeface="Inria Serif"/>
                <a:ea typeface="Inria Serif"/>
                <a:cs typeface="Inria Serif"/>
                <a:sym typeface="Inria Serif"/>
              </a:rPr>
              <a:t>Understanding Users (Women Travelers):Women face safety risks during travel, especially at night or in isolated areas.</a:t>
            </a:r>
          </a:p>
          <a:p>
            <a:pPr marL="457200" indent="-457200">
              <a:lnSpc>
                <a:spcPts val="5500"/>
              </a:lnSpc>
              <a:buFont typeface="Wingdings" panose="05000000000000000000" pitchFamily="2" charset="2"/>
              <a:buChar char="§"/>
            </a:pPr>
            <a:r>
              <a:rPr lang="en-US" sz="3000" dirty="0">
                <a:solidFill>
                  <a:srgbClr val="FAFDFD"/>
                </a:solidFill>
                <a:latin typeface="Inria Serif"/>
                <a:ea typeface="Inria Serif"/>
                <a:cs typeface="Inria Serif"/>
                <a:sym typeface="Inria Serif"/>
              </a:rPr>
              <a:t>In emergency situations, manual actions (like pressing SOS) may not be possible.</a:t>
            </a:r>
          </a:p>
          <a:p>
            <a:pPr marL="457200" indent="-457200">
              <a:lnSpc>
                <a:spcPts val="5500"/>
              </a:lnSpc>
              <a:buFont typeface="Wingdings" panose="05000000000000000000" pitchFamily="2" charset="2"/>
              <a:buChar char="§"/>
            </a:pPr>
            <a:r>
              <a:rPr lang="en-US" sz="3000" dirty="0">
                <a:solidFill>
                  <a:srgbClr val="FAFDFD"/>
                </a:solidFill>
                <a:latin typeface="Inria Serif"/>
                <a:ea typeface="Inria Serif"/>
                <a:cs typeface="Inria Serif"/>
                <a:sym typeface="Inria Serif"/>
              </a:rPr>
              <a:t>Users often feel unsafe but cannot continuously inform others.</a:t>
            </a:r>
          </a:p>
          <a:p>
            <a:pPr marL="457200" indent="-457200">
              <a:lnSpc>
                <a:spcPts val="5500"/>
              </a:lnSpc>
              <a:buFont typeface="Wingdings" panose="05000000000000000000" pitchFamily="2" charset="2"/>
              <a:buChar char="§"/>
            </a:pPr>
            <a:r>
              <a:rPr lang="en-US" sz="3000" dirty="0">
                <a:solidFill>
                  <a:srgbClr val="FAFDFD"/>
                </a:solidFill>
                <a:latin typeface="Inria Serif"/>
                <a:ea typeface="Inria Serif"/>
                <a:cs typeface="Inria Serif"/>
                <a:sym typeface="Inria Serif"/>
              </a:rPr>
              <a:t>Current apps only help after danger occurs, not before fear and panic can prevent users from reacting quickly.</a:t>
            </a:r>
          </a:p>
          <a:p>
            <a:pPr marL="457200" indent="-457200">
              <a:lnSpc>
                <a:spcPts val="5500"/>
              </a:lnSpc>
              <a:buFont typeface="Wingdings" panose="05000000000000000000" pitchFamily="2" charset="2"/>
              <a:buChar char="§"/>
            </a:pPr>
            <a:r>
              <a:rPr lang="en-US" sz="3000" dirty="0">
                <a:solidFill>
                  <a:srgbClr val="FAFDFD"/>
                </a:solidFill>
                <a:latin typeface="Inria Serif"/>
                <a:ea typeface="Inria Serif"/>
                <a:cs typeface="Inria Serif"/>
                <a:sym typeface="Inria Serif"/>
              </a:rPr>
              <a:t>Need for automatic, real-time protection without user effort</a:t>
            </a:r>
          </a:p>
        </p:txBody>
      </p:sp>
      <p:sp>
        <p:nvSpPr>
          <p:cNvPr id="8" name="Freeform 2">
            <a:extLst>
              <a:ext uri="{FF2B5EF4-FFF2-40B4-BE49-F238E27FC236}">
                <a16:creationId xmlns:a16="http://schemas.microsoft.com/office/drawing/2014/main" id="{6DA9FC68-3FA3-B72B-08E1-7EC9B2B73E65}"/>
              </a:ext>
            </a:extLst>
          </p:cNvPr>
          <p:cNvSpPr/>
          <p:nvPr/>
        </p:nvSpPr>
        <p:spPr>
          <a:xfrm flipH="1" flipV="1">
            <a:off x="0" y="8628726"/>
            <a:ext cx="18288000" cy="1656400"/>
          </a:xfrm>
          <a:custGeom>
            <a:avLst/>
            <a:gdLst/>
            <a:ahLst/>
            <a:cxnLst/>
            <a:rect l="l" t="t" r="r" b="b"/>
            <a:pathLst>
              <a:path w="23426234" h="1656400">
                <a:moveTo>
                  <a:pt x="23426234" y="1656401"/>
                </a:moveTo>
                <a:lnTo>
                  <a:pt x="0" y="1656401"/>
                </a:lnTo>
                <a:lnTo>
                  <a:pt x="0" y="0"/>
                </a:lnTo>
                <a:lnTo>
                  <a:pt x="23426234" y="0"/>
                </a:lnTo>
                <a:lnTo>
                  <a:pt x="23426234" y="1656401"/>
                </a:lnTo>
                <a:close/>
              </a:path>
            </a:pathLst>
          </a:custGeom>
          <a:blipFill>
            <a:blip>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flipH="1" flipV="1">
            <a:off x="0" y="8628726"/>
            <a:ext cx="18288000" cy="1656400"/>
          </a:xfrm>
          <a:custGeom>
            <a:avLst/>
            <a:gdLst/>
            <a:ahLst/>
            <a:cxnLst/>
            <a:rect l="l" t="t" r="r" b="b"/>
            <a:pathLst>
              <a:path w="23426234" h="1656400">
                <a:moveTo>
                  <a:pt x="23426234" y="1656401"/>
                </a:moveTo>
                <a:lnTo>
                  <a:pt x="0" y="1656401"/>
                </a:lnTo>
                <a:lnTo>
                  <a:pt x="0" y="0"/>
                </a:lnTo>
                <a:lnTo>
                  <a:pt x="23426234" y="0"/>
                </a:lnTo>
                <a:lnTo>
                  <a:pt x="23426234" y="1656401"/>
                </a:lnTo>
                <a:close/>
              </a:path>
            </a:pathLst>
          </a:custGeom>
          <a:blipFill>
            <a:blip>
              <a:extLst>
                <a:ext uri="{96DAC541-7B7A-43D3-8B79-37D633B846F1}">
                  <asvg:svgBlip xmlns:asvg="http://schemas.microsoft.com/office/drawing/2016/SVG/main" r:embed="rId2"/>
                </a:ext>
              </a:extLst>
            </a:blip>
            <a:stretch>
              <a:fillRect/>
            </a:stretch>
          </a:blipFill>
        </p:spPr>
      </p:sp>
      <p:sp>
        <p:nvSpPr>
          <p:cNvPr id="4" name="TextBox 4"/>
          <p:cNvSpPr txBox="1"/>
          <p:nvPr/>
        </p:nvSpPr>
        <p:spPr>
          <a:xfrm>
            <a:off x="1371600" y="1257300"/>
            <a:ext cx="16002000" cy="6912149"/>
          </a:xfrm>
          <a:prstGeom prst="rect">
            <a:avLst/>
          </a:prstGeom>
        </p:spPr>
        <p:txBody>
          <a:bodyPr wrap="square" lIns="0" tIns="0" rIns="0" bIns="0" rtlCol="0" anchor="t">
            <a:spAutoFit/>
          </a:bodyPr>
          <a:lstStyle/>
          <a:p>
            <a:pPr algn="just">
              <a:lnSpc>
                <a:spcPts val="4900"/>
              </a:lnSpc>
            </a:pPr>
            <a:r>
              <a:rPr lang="en-US" sz="5000" b="1" dirty="0">
                <a:solidFill>
                  <a:schemeClr val="tx2">
                    <a:lumMod val="40000"/>
                    <a:lumOff val="60000"/>
                  </a:schemeClr>
                </a:solidFill>
                <a:latin typeface="Times New Roman" panose="02020603050405020304" pitchFamily="18" charset="0"/>
                <a:ea typeface="Canva Sans"/>
                <a:cs typeface="Times New Roman" panose="02020603050405020304" pitchFamily="18" charset="0"/>
                <a:sym typeface="Canva Sans"/>
              </a:rPr>
              <a:t>2. DEFINE – Introduction to the Problem</a:t>
            </a:r>
          </a:p>
          <a:p>
            <a:pPr algn="just">
              <a:lnSpc>
                <a:spcPts val="4900"/>
              </a:lnSpc>
            </a:pPr>
            <a:endParaRPr lang="en-US" sz="4000" dirty="0">
              <a:solidFill>
                <a:srgbClr val="FAFDFD"/>
              </a:solidFill>
              <a:latin typeface="Canva Sans"/>
              <a:ea typeface="Canva Sans"/>
              <a:cs typeface="Canva Sans"/>
              <a:sym typeface="Canva Sans"/>
            </a:endParaRPr>
          </a:p>
          <a:p>
            <a:pPr algn="just">
              <a:lnSpc>
                <a:spcPts val="4900"/>
              </a:lnSpc>
            </a:pPr>
            <a:r>
              <a:rPr lang="en-US" sz="3700" dirty="0">
                <a:solidFill>
                  <a:srgbClr val="FAFDFD"/>
                </a:solidFill>
                <a:latin typeface="Inria Serif" panose="020B0604020202020204" charset="0"/>
                <a:ea typeface="Canva Sans"/>
                <a:cs typeface="Canva Sans"/>
                <a:sym typeface="Canva Sans"/>
              </a:rPr>
              <a:t>Problem Statement:</a:t>
            </a:r>
          </a:p>
          <a:p>
            <a:pPr marL="571500" indent="-571500" algn="just">
              <a:lnSpc>
                <a:spcPts val="4900"/>
              </a:lnSpc>
              <a:buFont typeface="Arial" panose="020B0604020202020204" pitchFamily="34" charset="0"/>
              <a:buChar char="•"/>
            </a:pPr>
            <a:endParaRPr lang="en-US" sz="3700" dirty="0">
              <a:solidFill>
                <a:srgbClr val="FAFDFD"/>
              </a:solidFill>
              <a:latin typeface="Inria Serif" panose="020B0604020202020204" charset="0"/>
              <a:ea typeface="Canva Sans"/>
              <a:cs typeface="Canva Sans"/>
              <a:sym typeface="Canva Sans"/>
            </a:endParaRPr>
          </a:p>
          <a:p>
            <a:pPr algn="just">
              <a:lnSpc>
                <a:spcPts val="4900"/>
              </a:lnSpc>
            </a:pPr>
            <a:r>
              <a:rPr lang="en-US" sz="3700" dirty="0">
                <a:solidFill>
                  <a:srgbClr val="FAFDFD"/>
                </a:solidFill>
                <a:latin typeface="Inria Serif" panose="020B0604020202020204" charset="0"/>
                <a:ea typeface="Canva Sans"/>
                <a:cs typeface="Canva Sans"/>
                <a:sym typeface="Canva Sans"/>
              </a:rPr>
              <a:t>Existing women safety apps:</a:t>
            </a:r>
          </a:p>
          <a:p>
            <a:pPr marL="571500" indent="-571500" algn="just">
              <a:lnSpc>
                <a:spcPts val="4900"/>
              </a:lnSpc>
              <a:buFont typeface="Arial" panose="020B0604020202020204" pitchFamily="34" charset="0"/>
              <a:buChar char="•"/>
            </a:pPr>
            <a:r>
              <a:rPr lang="en-US" sz="3700" dirty="0">
                <a:solidFill>
                  <a:srgbClr val="FAFDFD"/>
                </a:solidFill>
                <a:latin typeface="Inria Serif" panose="020B0604020202020204" charset="0"/>
                <a:ea typeface="Canva Sans"/>
                <a:cs typeface="Canva Sans"/>
                <a:sym typeface="Canva Sans"/>
              </a:rPr>
              <a:t>Require manual activation (panic button)Only share location, not analyze safety</a:t>
            </a:r>
          </a:p>
          <a:p>
            <a:pPr marL="571500" indent="-571500" algn="just">
              <a:lnSpc>
                <a:spcPts val="4900"/>
              </a:lnSpc>
              <a:buFont typeface="Arial" panose="020B0604020202020204" pitchFamily="34" charset="0"/>
              <a:buChar char="•"/>
            </a:pPr>
            <a:r>
              <a:rPr lang="en-US" sz="3700" dirty="0">
                <a:solidFill>
                  <a:srgbClr val="FAFDFD"/>
                </a:solidFill>
                <a:latin typeface="Inria Serif" panose="020B0604020202020204" charset="0"/>
                <a:ea typeface="Canva Sans"/>
                <a:cs typeface="Canva Sans"/>
                <a:sym typeface="Canva Sans"/>
              </a:rPr>
              <a:t>Do not consider: Route </a:t>
            </a:r>
            <a:r>
              <a:rPr lang="en-US" sz="3700" dirty="0" err="1">
                <a:solidFill>
                  <a:srgbClr val="FAFDFD"/>
                </a:solidFill>
                <a:latin typeface="Inria Serif" panose="020B0604020202020204" charset="0"/>
                <a:ea typeface="Canva Sans"/>
                <a:cs typeface="Canva Sans"/>
                <a:sym typeface="Canva Sans"/>
              </a:rPr>
              <a:t>safetyTime</a:t>
            </a:r>
            <a:r>
              <a:rPr lang="en-US" sz="3700" dirty="0">
                <a:solidFill>
                  <a:srgbClr val="FAFDFD"/>
                </a:solidFill>
                <a:latin typeface="Inria Serif" panose="020B0604020202020204" charset="0"/>
                <a:ea typeface="Canva Sans"/>
                <a:cs typeface="Canva Sans"/>
                <a:sym typeface="Canva Sans"/>
              </a:rPr>
              <a:t> (night/day risk)User movement patterns</a:t>
            </a:r>
          </a:p>
          <a:p>
            <a:pPr marL="571500" indent="-571500" algn="just">
              <a:lnSpc>
                <a:spcPts val="4900"/>
              </a:lnSpc>
              <a:buFont typeface="Arial" panose="020B0604020202020204" pitchFamily="34" charset="0"/>
              <a:buChar char="•"/>
            </a:pPr>
            <a:r>
              <a:rPr lang="en-US" sz="3700" dirty="0">
                <a:solidFill>
                  <a:srgbClr val="FAFDFD"/>
                </a:solidFill>
                <a:latin typeface="Inria Serif" panose="020B0604020202020204" charset="0"/>
                <a:ea typeface="Canva Sans"/>
                <a:cs typeface="Canva Sans"/>
                <a:sym typeface="Canva Sans"/>
              </a:rPr>
              <a:t>Core Problem: There is no system that provides continuous, intelligent, and automatic safety monitoring during travel</a:t>
            </a:r>
            <a:r>
              <a:rPr lang="en-US" sz="4500" dirty="0">
                <a:solidFill>
                  <a:srgbClr val="FAFDFD"/>
                </a:solidFill>
                <a:latin typeface="Inria Serif" panose="020B0604020202020204" charset="0"/>
                <a:ea typeface="Canva Sans"/>
                <a:cs typeface="Canva Sans"/>
                <a:sym typeface="Canva Sans"/>
              </a:rPr>
              <a:t>.</a:t>
            </a:r>
          </a:p>
        </p:txBody>
      </p:sp>
      <p:sp>
        <p:nvSpPr>
          <p:cNvPr id="5" name="Freeform 4">
            <a:extLst>
              <a:ext uri="{FF2B5EF4-FFF2-40B4-BE49-F238E27FC236}">
                <a16:creationId xmlns:a16="http://schemas.microsoft.com/office/drawing/2014/main" id="{A76388DA-FDC4-5897-8CCA-34C81A71591C}"/>
              </a:ext>
            </a:extLst>
          </p:cNvPr>
          <p:cNvSpPr/>
          <p:nvPr/>
        </p:nvSpPr>
        <p:spPr>
          <a:xfrm>
            <a:off x="15392400" y="1028700"/>
            <a:ext cx="1172098" cy="975772"/>
          </a:xfrm>
          <a:custGeom>
            <a:avLst/>
            <a:gdLst/>
            <a:ahLst/>
            <a:cxnLst/>
            <a:rect l="l" t="t" r="r" b="b"/>
            <a:pathLst>
              <a:path w="1172098" h="975772">
                <a:moveTo>
                  <a:pt x="0" y="0"/>
                </a:moveTo>
                <a:lnTo>
                  <a:pt x="1172098" y="0"/>
                </a:lnTo>
                <a:lnTo>
                  <a:pt x="1172098" y="975771"/>
                </a:lnTo>
                <a:lnTo>
                  <a:pt x="0" y="975771"/>
                </a:lnTo>
                <a:lnTo>
                  <a:pt x="0" y="0"/>
                </a:lnTo>
                <a:close/>
              </a:path>
            </a:pathLst>
          </a:custGeom>
          <a:blipFill>
            <a:blip>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flipV="1">
            <a:off x="0" y="8630600"/>
            <a:ext cx="18310123" cy="1656400"/>
          </a:xfrm>
          <a:custGeom>
            <a:avLst/>
            <a:gdLst/>
            <a:ahLst/>
            <a:cxnLst/>
            <a:rect l="l" t="t" r="r" b="b"/>
            <a:pathLst>
              <a:path w="23426234" h="1656400">
                <a:moveTo>
                  <a:pt x="0" y="1656400"/>
                </a:moveTo>
                <a:lnTo>
                  <a:pt x="23426234" y="1656400"/>
                </a:lnTo>
                <a:lnTo>
                  <a:pt x="23426234" y="0"/>
                </a:lnTo>
                <a:lnTo>
                  <a:pt x="0" y="0"/>
                </a:lnTo>
                <a:lnTo>
                  <a:pt x="0" y="1656400"/>
                </a:lnTo>
                <a:close/>
              </a:path>
            </a:pathLst>
          </a:custGeom>
          <a:blipFill>
            <a:blip>
              <a:extLst>
                <a:ext uri="{96DAC541-7B7A-43D3-8B79-37D633B846F1}">
                  <asvg:svgBlip xmlns:asvg="http://schemas.microsoft.com/office/drawing/2016/SVG/main" r:embed="rId2"/>
                </a:ext>
              </a:extLst>
            </a:blip>
            <a:stretch>
              <a:fillRect/>
            </a:stretch>
          </a:blipFill>
        </p:spPr>
      </p:sp>
      <p:sp>
        <p:nvSpPr>
          <p:cNvPr id="3" name="TextBox 3"/>
          <p:cNvSpPr txBox="1"/>
          <p:nvPr/>
        </p:nvSpPr>
        <p:spPr>
          <a:xfrm>
            <a:off x="2663015" y="359074"/>
            <a:ext cx="12958624" cy="2287101"/>
          </a:xfrm>
          <a:prstGeom prst="rect">
            <a:avLst/>
          </a:prstGeom>
        </p:spPr>
        <p:txBody>
          <a:bodyPr lIns="0" tIns="0" rIns="0" bIns="0" rtlCol="0" anchor="t">
            <a:spAutoFit/>
          </a:bodyPr>
          <a:lstStyle/>
          <a:p>
            <a:pPr algn="ctr">
              <a:lnSpc>
                <a:spcPts val="9350"/>
              </a:lnSpc>
            </a:pPr>
            <a:r>
              <a:rPr lang="en-US" sz="5500" b="1" dirty="0">
                <a:solidFill>
                  <a:schemeClr val="bg1"/>
                </a:solidFill>
                <a:latin typeface="Times New Roman" panose="02020603050405020304" pitchFamily="18" charset="0"/>
                <a:ea typeface="Canva Sans"/>
                <a:cs typeface="Times New Roman" panose="02020603050405020304" pitchFamily="18" charset="0"/>
                <a:sym typeface="Canva Sans"/>
              </a:rPr>
              <a:t>IDEATE – Creative Solutions</a:t>
            </a:r>
          </a:p>
          <a:p>
            <a:pPr algn="ctr">
              <a:lnSpc>
                <a:spcPts val="9350"/>
              </a:lnSpc>
            </a:pPr>
            <a:endParaRPr lang="en-US" sz="5500" b="1" dirty="0">
              <a:solidFill>
                <a:schemeClr val="bg1"/>
              </a:solidFill>
              <a:latin typeface="Times New Roman" panose="02020603050405020304" pitchFamily="18" charset="0"/>
              <a:ea typeface="Cooper Hewitt Bold"/>
              <a:cs typeface="Times New Roman" panose="02020603050405020304" pitchFamily="18" charset="0"/>
              <a:sym typeface="Cooper Hewitt Bold"/>
            </a:endParaRPr>
          </a:p>
        </p:txBody>
      </p:sp>
      <p:sp>
        <p:nvSpPr>
          <p:cNvPr id="4" name="Freeform 4"/>
          <p:cNvSpPr/>
          <p:nvPr/>
        </p:nvSpPr>
        <p:spPr>
          <a:xfrm>
            <a:off x="15850240" y="520999"/>
            <a:ext cx="1172098" cy="975772"/>
          </a:xfrm>
          <a:custGeom>
            <a:avLst/>
            <a:gdLst/>
            <a:ahLst/>
            <a:cxnLst/>
            <a:rect l="l" t="t" r="r" b="b"/>
            <a:pathLst>
              <a:path w="1172098" h="975772">
                <a:moveTo>
                  <a:pt x="0" y="0"/>
                </a:moveTo>
                <a:lnTo>
                  <a:pt x="1172098" y="0"/>
                </a:lnTo>
                <a:lnTo>
                  <a:pt x="1172098" y="975771"/>
                </a:lnTo>
                <a:lnTo>
                  <a:pt x="0" y="97577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flipH="1">
            <a:off x="1262317" y="520999"/>
            <a:ext cx="1172098" cy="975772"/>
          </a:xfrm>
          <a:custGeom>
            <a:avLst/>
            <a:gdLst/>
            <a:ahLst/>
            <a:cxnLst/>
            <a:rect l="l" t="t" r="r" b="b"/>
            <a:pathLst>
              <a:path w="1172098" h="975772">
                <a:moveTo>
                  <a:pt x="1172098" y="0"/>
                </a:moveTo>
                <a:lnTo>
                  <a:pt x="0" y="0"/>
                </a:lnTo>
                <a:lnTo>
                  <a:pt x="0" y="975771"/>
                </a:lnTo>
                <a:lnTo>
                  <a:pt x="1172098" y="975771"/>
                </a:lnTo>
                <a:lnTo>
                  <a:pt x="1172098"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1262317" y="1752903"/>
            <a:ext cx="15120683" cy="7001917"/>
          </a:xfrm>
          <a:prstGeom prst="rect">
            <a:avLst/>
          </a:prstGeom>
        </p:spPr>
        <p:txBody>
          <a:bodyPr wrap="square" lIns="0" tIns="0" rIns="0" bIns="0" rtlCol="0" anchor="t">
            <a:spAutoFit/>
          </a:bodyPr>
          <a:lstStyle/>
          <a:p>
            <a:pPr algn="just">
              <a:lnSpc>
                <a:spcPts val="4200"/>
              </a:lnSpc>
            </a:pPr>
            <a:endParaRPr lang="en-US" sz="3700" dirty="0">
              <a:solidFill>
                <a:srgbClr val="FAFDFD"/>
              </a:solidFill>
              <a:latin typeface="Canva Sans"/>
              <a:ea typeface="Canva Sans"/>
              <a:cs typeface="Canva Sans"/>
              <a:sym typeface="Canva Sans"/>
            </a:endParaRPr>
          </a:p>
          <a:p>
            <a:pPr algn="just">
              <a:lnSpc>
                <a:spcPts val="4200"/>
              </a:lnSpc>
            </a:pPr>
            <a:r>
              <a:rPr lang="en-US" sz="4400" b="1" dirty="0">
                <a:solidFill>
                  <a:schemeClr val="tx2">
                    <a:lumMod val="40000"/>
                    <a:lumOff val="60000"/>
                  </a:schemeClr>
                </a:solidFill>
                <a:latin typeface="Canva Sans"/>
                <a:ea typeface="Canva Sans"/>
                <a:cs typeface="Canva Sans"/>
                <a:sym typeface="Canva Sans"/>
              </a:rPr>
              <a:t>Proposed Idea: </a:t>
            </a:r>
            <a:r>
              <a:rPr lang="en-US" sz="4400" b="1" dirty="0" err="1">
                <a:solidFill>
                  <a:schemeClr val="tx2">
                    <a:lumMod val="40000"/>
                    <a:lumOff val="60000"/>
                  </a:schemeClr>
                </a:solidFill>
                <a:latin typeface="Canva Sans"/>
                <a:ea typeface="Canva Sans"/>
                <a:cs typeface="Canva Sans"/>
                <a:sym typeface="Canva Sans"/>
              </a:rPr>
              <a:t>SafeRoute</a:t>
            </a:r>
            <a:endParaRPr lang="en-US" sz="4400" b="1" dirty="0">
              <a:solidFill>
                <a:schemeClr val="tx2">
                  <a:lumMod val="40000"/>
                  <a:lumOff val="60000"/>
                </a:schemeClr>
              </a:solidFill>
              <a:latin typeface="Canva Sans"/>
              <a:ea typeface="Canva Sans"/>
              <a:cs typeface="Canva Sans"/>
              <a:sym typeface="Canva Sans"/>
            </a:endParaRPr>
          </a:p>
          <a:p>
            <a:pPr algn="just">
              <a:lnSpc>
                <a:spcPts val="4200"/>
              </a:lnSpc>
            </a:pPr>
            <a:r>
              <a:rPr lang="en-US" sz="3700" dirty="0">
                <a:solidFill>
                  <a:srgbClr val="FAFDFD"/>
                </a:solidFill>
                <a:latin typeface="Canva Sans"/>
                <a:ea typeface="Canva Sans"/>
                <a:cs typeface="Canva Sans"/>
                <a:sym typeface="Canva Sans"/>
              </a:rPr>
              <a:t>An AI-based intelligent travel safety </a:t>
            </a:r>
            <a:r>
              <a:rPr lang="en-US" sz="3700" dirty="0" err="1">
                <a:solidFill>
                  <a:srgbClr val="FAFDFD"/>
                </a:solidFill>
                <a:latin typeface="Canva Sans"/>
                <a:ea typeface="Canva Sans"/>
                <a:cs typeface="Canva Sans"/>
                <a:sym typeface="Canva Sans"/>
              </a:rPr>
              <a:t>appWorks</a:t>
            </a:r>
            <a:r>
              <a:rPr lang="en-US" sz="3700" dirty="0">
                <a:solidFill>
                  <a:srgbClr val="FAFDFD"/>
                </a:solidFill>
                <a:latin typeface="Canva Sans"/>
                <a:ea typeface="Canva Sans"/>
                <a:cs typeface="Canva Sans"/>
                <a:sym typeface="Canva Sans"/>
              </a:rPr>
              <a:t> automatically in the background</a:t>
            </a:r>
          </a:p>
          <a:p>
            <a:pPr algn="just">
              <a:lnSpc>
                <a:spcPts val="4200"/>
              </a:lnSpc>
            </a:pPr>
            <a:endParaRPr lang="en-US" sz="3700" dirty="0">
              <a:solidFill>
                <a:srgbClr val="FAFDFD"/>
              </a:solidFill>
              <a:latin typeface="Canva Sans"/>
              <a:ea typeface="Canva Sans"/>
              <a:cs typeface="Canva Sans"/>
              <a:sym typeface="Canva Sans"/>
            </a:endParaRPr>
          </a:p>
          <a:p>
            <a:pPr algn="just">
              <a:lnSpc>
                <a:spcPts val="4200"/>
              </a:lnSpc>
            </a:pPr>
            <a:r>
              <a:rPr lang="en-US" sz="4000" b="1" dirty="0">
                <a:solidFill>
                  <a:schemeClr val="tx2">
                    <a:lumMod val="40000"/>
                    <a:lumOff val="60000"/>
                  </a:schemeClr>
                </a:solidFill>
                <a:latin typeface="Canva Sans"/>
                <a:ea typeface="Canva Sans"/>
                <a:cs typeface="Canva Sans"/>
                <a:sym typeface="Canva Sans"/>
              </a:rPr>
              <a:t>Uses:</a:t>
            </a:r>
          </a:p>
          <a:p>
            <a:pPr marL="571500" indent="-571500" algn="just">
              <a:lnSpc>
                <a:spcPts val="4200"/>
              </a:lnSpc>
              <a:buFont typeface="Wingdings" panose="05000000000000000000" pitchFamily="2" charset="2"/>
              <a:buChar char="ü"/>
            </a:pPr>
            <a:r>
              <a:rPr lang="en-US" sz="3700" dirty="0">
                <a:solidFill>
                  <a:srgbClr val="FAFDFD"/>
                </a:solidFill>
                <a:latin typeface="Canva Sans"/>
                <a:ea typeface="Canva Sans"/>
                <a:cs typeface="Canva Sans"/>
                <a:sym typeface="Canva Sans"/>
              </a:rPr>
              <a:t>AI voice interaction</a:t>
            </a:r>
          </a:p>
          <a:p>
            <a:pPr marL="571500" indent="-571500" algn="just">
              <a:lnSpc>
                <a:spcPts val="4200"/>
              </a:lnSpc>
              <a:buFont typeface="Wingdings" panose="05000000000000000000" pitchFamily="2" charset="2"/>
              <a:buChar char="ü"/>
            </a:pPr>
            <a:r>
              <a:rPr lang="en-US" sz="3700" dirty="0">
                <a:solidFill>
                  <a:srgbClr val="FAFDFD"/>
                </a:solidFill>
                <a:latin typeface="Canva Sans"/>
                <a:ea typeface="Canva Sans"/>
                <a:cs typeface="Canva Sans"/>
                <a:sym typeface="Canva Sans"/>
              </a:rPr>
              <a:t>Route + time-based risk analysis</a:t>
            </a:r>
          </a:p>
          <a:p>
            <a:pPr marL="571500" indent="-571500" algn="just">
              <a:lnSpc>
                <a:spcPts val="4200"/>
              </a:lnSpc>
              <a:buFont typeface="Wingdings" panose="05000000000000000000" pitchFamily="2" charset="2"/>
              <a:buChar char="ü"/>
            </a:pPr>
            <a:r>
              <a:rPr lang="en-US" sz="3700" dirty="0">
                <a:solidFill>
                  <a:srgbClr val="FAFDFD"/>
                </a:solidFill>
                <a:latin typeface="Canva Sans"/>
                <a:ea typeface="Canva Sans"/>
                <a:cs typeface="Canva Sans"/>
                <a:sym typeface="Canva Sans"/>
              </a:rPr>
              <a:t>Movement detection</a:t>
            </a:r>
          </a:p>
          <a:p>
            <a:pPr marL="571500" indent="-571500" algn="just">
              <a:lnSpc>
                <a:spcPts val="4200"/>
              </a:lnSpc>
              <a:buFont typeface="Wingdings" panose="05000000000000000000" pitchFamily="2" charset="2"/>
              <a:buChar char="ü"/>
            </a:pPr>
            <a:r>
              <a:rPr lang="en-US" sz="3700" dirty="0">
                <a:solidFill>
                  <a:srgbClr val="FAFDFD"/>
                </a:solidFill>
                <a:latin typeface="Canva Sans"/>
                <a:ea typeface="Canva Sans"/>
                <a:cs typeface="Canva Sans"/>
                <a:sym typeface="Canva Sans"/>
              </a:rPr>
              <a:t>Idea is to create a “virtual </a:t>
            </a:r>
            <a:r>
              <a:rPr lang="en-US" sz="3700" dirty="0" err="1">
                <a:solidFill>
                  <a:srgbClr val="FAFDFD"/>
                </a:solidFill>
                <a:latin typeface="Canva Sans"/>
                <a:ea typeface="Canva Sans"/>
                <a:cs typeface="Canva Sans"/>
                <a:sym typeface="Canva Sans"/>
              </a:rPr>
              <a:t>guardian”that</a:t>
            </a:r>
            <a:r>
              <a:rPr lang="en-US" sz="3700" dirty="0">
                <a:solidFill>
                  <a:srgbClr val="FAFDFD"/>
                </a:solidFill>
                <a:latin typeface="Canva Sans"/>
                <a:ea typeface="Canva Sans"/>
                <a:cs typeface="Canva Sans"/>
                <a:sym typeface="Canva Sans"/>
              </a:rPr>
              <a:t>:</a:t>
            </a:r>
          </a:p>
          <a:p>
            <a:pPr algn="just">
              <a:lnSpc>
                <a:spcPts val="4200"/>
              </a:lnSpc>
            </a:pPr>
            <a:r>
              <a:rPr lang="en-US" sz="3700" dirty="0">
                <a:solidFill>
                  <a:srgbClr val="FAFDFD"/>
                </a:solidFill>
                <a:latin typeface="Canva Sans"/>
                <a:ea typeface="Canva Sans"/>
                <a:cs typeface="Canva Sans"/>
                <a:sym typeface="Canva Sans"/>
              </a:rPr>
              <a:t>         Monitors user continuously</a:t>
            </a:r>
          </a:p>
          <a:p>
            <a:pPr marL="571500" indent="-571500" algn="just">
              <a:lnSpc>
                <a:spcPts val="4200"/>
              </a:lnSpc>
              <a:buFont typeface="Wingdings" panose="05000000000000000000" pitchFamily="2" charset="2"/>
              <a:buChar char="ü"/>
            </a:pPr>
            <a:r>
              <a:rPr lang="en-US" sz="3700" dirty="0">
                <a:solidFill>
                  <a:srgbClr val="FAFDFD"/>
                </a:solidFill>
                <a:latin typeface="Canva Sans"/>
                <a:ea typeface="Canva Sans"/>
                <a:cs typeface="Canva Sans"/>
                <a:sym typeface="Canva Sans"/>
              </a:rPr>
              <a:t>Detects danger situations</a:t>
            </a:r>
          </a:p>
          <a:p>
            <a:pPr marL="571500" indent="-571500" algn="just">
              <a:lnSpc>
                <a:spcPts val="4200"/>
              </a:lnSpc>
              <a:buFont typeface="Wingdings" panose="05000000000000000000" pitchFamily="2" charset="2"/>
              <a:buChar char="ü"/>
            </a:pPr>
            <a:r>
              <a:rPr lang="en-US" sz="3700" dirty="0">
                <a:solidFill>
                  <a:srgbClr val="FAFDFD"/>
                </a:solidFill>
                <a:latin typeface="Canva Sans"/>
                <a:ea typeface="Canva Sans"/>
                <a:cs typeface="Canva Sans"/>
                <a:sym typeface="Canva Sans"/>
              </a:rPr>
              <a:t>Responds without user input</a:t>
            </a:r>
          </a:p>
        </p:txBody>
      </p:sp>
      <p:sp>
        <p:nvSpPr>
          <p:cNvPr id="12" name="Freeform 2">
            <a:extLst>
              <a:ext uri="{FF2B5EF4-FFF2-40B4-BE49-F238E27FC236}">
                <a16:creationId xmlns:a16="http://schemas.microsoft.com/office/drawing/2014/main" id="{3E3578B7-4C7A-1011-EDB6-B2A67236ABFB}"/>
              </a:ext>
            </a:extLst>
          </p:cNvPr>
          <p:cNvSpPr/>
          <p:nvPr/>
        </p:nvSpPr>
        <p:spPr>
          <a:xfrm>
            <a:off x="13792200" y="5254805"/>
            <a:ext cx="4186085" cy="3556101"/>
          </a:xfrm>
          <a:custGeom>
            <a:avLst/>
            <a:gdLst/>
            <a:ahLst/>
            <a:cxnLst/>
            <a:rect l="l" t="t" r="r" b="b"/>
            <a:pathLst>
              <a:path w="3119622" h="3171520">
                <a:moveTo>
                  <a:pt x="0" y="0"/>
                </a:moveTo>
                <a:lnTo>
                  <a:pt x="3119623" y="0"/>
                </a:lnTo>
                <a:lnTo>
                  <a:pt x="3119623" y="3171520"/>
                </a:lnTo>
                <a:lnTo>
                  <a:pt x="0" y="3171520"/>
                </a:lnTo>
                <a:lnTo>
                  <a:pt x="0" y="0"/>
                </a:lnTo>
                <a:close/>
              </a:path>
            </a:pathLst>
          </a:custGeom>
          <a:blipFill>
            <a:blip>
              <a:extLst>
                <a:ext uri="{96DAC541-7B7A-43D3-8B79-37D633B846F1}">
                  <asvg:svgBlip xmlns:asvg="http://schemas.microsoft.com/office/drawing/2016/SVG/main" r:embed="rId5"/>
                </a:ext>
              </a:extLst>
            </a:blip>
            <a:stretch>
              <a:fillRect/>
            </a:stretch>
          </a:blipFill>
          <a:ln cap="sq">
            <a:noFill/>
            <a:prstDash val="solid"/>
            <a:miter/>
          </a:ln>
        </p:spPr>
      </p:sp>
      <p:sp>
        <p:nvSpPr>
          <p:cNvPr id="13" name="Freeform 5">
            <a:extLst>
              <a:ext uri="{FF2B5EF4-FFF2-40B4-BE49-F238E27FC236}">
                <a16:creationId xmlns:a16="http://schemas.microsoft.com/office/drawing/2014/main" id="{646FC8EB-1263-3CCE-0925-9B4F241FB554}"/>
              </a:ext>
            </a:extLst>
          </p:cNvPr>
          <p:cNvSpPr/>
          <p:nvPr/>
        </p:nvSpPr>
        <p:spPr>
          <a:xfrm flipH="1">
            <a:off x="12196915" y="4662615"/>
            <a:ext cx="1172098" cy="975772"/>
          </a:xfrm>
          <a:custGeom>
            <a:avLst/>
            <a:gdLst/>
            <a:ahLst/>
            <a:cxnLst/>
            <a:rect l="l" t="t" r="r" b="b"/>
            <a:pathLst>
              <a:path w="1172098" h="975772">
                <a:moveTo>
                  <a:pt x="1172098" y="0"/>
                </a:moveTo>
                <a:lnTo>
                  <a:pt x="0" y="0"/>
                </a:lnTo>
                <a:lnTo>
                  <a:pt x="0" y="975771"/>
                </a:lnTo>
                <a:lnTo>
                  <a:pt x="1172098" y="975771"/>
                </a:lnTo>
                <a:lnTo>
                  <a:pt x="1172098"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AB6D2FD6-2515-F10A-02F6-AF01350C1F2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F6F0046-548D-973C-2183-F526374D7897}"/>
              </a:ext>
            </a:extLst>
          </p:cNvPr>
          <p:cNvSpPr/>
          <p:nvPr/>
        </p:nvSpPr>
        <p:spPr>
          <a:xfrm flipV="1">
            <a:off x="0" y="8630600"/>
            <a:ext cx="18310123" cy="1656400"/>
          </a:xfrm>
          <a:custGeom>
            <a:avLst/>
            <a:gdLst/>
            <a:ahLst/>
            <a:cxnLst/>
            <a:rect l="l" t="t" r="r" b="b"/>
            <a:pathLst>
              <a:path w="23426234" h="1656400">
                <a:moveTo>
                  <a:pt x="0" y="1656400"/>
                </a:moveTo>
                <a:lnTo>
                  <a:pt x="23426234" y="1656400"/>
                </a:lnTo>
                <a:lnTo>
                  <a:pt x="23426234" y="0"/>
                </a:lnTo>
                <a:lnTo>
                  <a:pt x="0" y="0"/>
                </a:lnTo>
                <a:lnTo>
                  <a:pt x="0" y="165640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a:extLst>
              <a:ext uri="{FF2B5EF4-FFF2-40B4-BE49-F238E27FC236}">
                <a16:creationId xmlns:a16="http://schemas.microsoft.com/office/drawing/2014/main" id="{0F1FA827-87E5-7741-E7C2-B2E02A5BFFDA}"/>
              </a:ext>
            </a:extLst>
          </p:cNvPr>
          <p:cNvSpPr/>
          <p:nvPr/>
        </p:nvSpPr>
        <p:spPr>
          <a:xfrm>
            <a:off x="993724" y="497647"/>
            <a:ext cx="1172098" cy="975772"/>
          </a:xfrm>
          <a:custGeom>
            <a:avLst/>
            <a:gdLst/>
            <a:ahLst/>
            <a:cxnLst/>
            <a:rect l="l" t="t" r="r" b="b"/>
            <a:pathLst>
              <a:path w="1172098" h="975772">
                <a:moveTo>
                  <a:pt x="0" y="0"/>
                </a:moveTo>
                <a:lnTo>
                  <a:pt x="1172098" y="0"/>
                </a:lnTo>
                <a:lnTo>
                  <a:pt x="1172098" y="975771"/>
                </a:lnTo>
                <a:lnTo>
                  <a:pt x="0" y="97577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5" name="Freeform 5">
            <a:extLst>
              <a:ext uri="{FF2B5EF4-FFF2-40B4-BE49-F238E27FC236}">
                <a16:creationId xmlns:a16="http://schemas.microsoft.com/office/drawing/2014/main" id="{E369FCC9-1BBE-72F1-0C17-EA0DA168969E}"/>
              </a:ext>
            </a:extLst>
          </p:cNvPr>
          <p:cNvSpPr/>
          <p:nvPr/>
        </p:nvSpPr>
        <p:spPr>
          <a:xfrm flipH="1">
            <a:off x="14020800" y="1840185"/>
            <a:ext cx="1172098" cy="975772"/>
          </a:xfrm>
          <a:custGeom>
            <a:avLst/>
            <a:gdLst/>
            <a:ahLst/>
            <a:cxnLst/>
            <a:rect l="l" t="t" r="r" b="b"/>
            <a:pathLst>
              <a:path w="1172098" h="975772">
                <a:moveTo>
                  <a:pt x="1172098" y="0"/>
                </a:moveTo>
                <a:lnTo>
                  <a:pt x="0" y="0"/>
                </a:lnTo>
                <a:lnTo>
                  <a:pt x="0" y="975771"/>
                </a:lnTo>
                <a:lnTo>
                  <a:pt x="1172098" y="975771"/>
                </a:lnTo>
                <a:lnTo>
                  <a:pt x="1172098"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dirty="0"/>
          </a:p>
        </p:txBody>
      </p:sp>
      <p:sp>
        <p:nvSpPr>
          <p:cNvPr id="6" name="Freeform 6">
            <a:extLst>
              <a:ext uri="{FF2B5EF4-FFF2-40B4-BE49-F238E27FC236}">
                <a16:creationId xmlns:a16="http://schemas.microsoft.com/office/drawing/2014/main" id="{81C3251A-F2E8-96EB-203F-C9B8F3C80B5B}"/>
              </a:ext>
            </a:extLst>
          </p:cNvPr>
          <p:cNvSpPr/>
          <p:nvPr/>
        </p:nvSpPr>
        <p:spPr>
          <a:xfrm>
            <a:off x="13123285" y="5524500"/>
            <a:ext cx="5186838" cy="3613204"/>
          </a:xfrm>
          <a:custGeom>
            <a:avLst/>
            <a:gdLst/>
            <a:ahLst/>
            <a:cxnLst/>
            <a:rect l="l" t="t" r="r" b="b"/>
            <a:pathLst>
              <a:path w="5186838" h="3613204">
                <a:moveTo>
                  <a:pt x="0" y="0"/>
                </a:moveTo>
                <a:lnTo>
                  <a:pt x="5186837" y="0"/>
                </a:lnTo>
                <a:lnTo>
                  <a:pt x="5186837" y="3613203"/>
                </a:lnTo>
                <a:lnTo>
                  <a:pt x="0" y="3613203"/>
                </a:lnTo>
                <a:lnTo>
                  <a:pt x="0" y="0"/>
                </a:lnTo>
                <a:close/>
              </a:path>
            </a:pathLst>
          </a:custGeom>
          <a:blipFill>
            <a:blip>
              <a:extLst>
                <a:ext uri="{96DAC541-7B7A-43D3-8B79-37D633B846F1}">
                  <asvg:svgBlip xmlns:asvg="http://schemas.microsoft.com/office/drawing/2016/SVG/main" r:embed="rId5"/>
                </a:ext>
              </a:extLst>
            </a:blip>
            <a:stretch>
              <a:fillRect/>
            </a:stretch>
          </a:blipFill>
          <a:ln cap="sq">
            <a:noFill/>
            <a:prstDash val="solid"/>
            <a:miter/>
          </a:ln>
        </p:spPr>
      </p:sp>
      <p:sp>
        <p:nvSpPr>
          <p:cNvPr id="7" name="TextBox 7">
            <a:extLst>
              <a:ext uri="{FF2B5EF4-FFF2-40B4-BE49-F238E27FC236}">
                <a16:creationId xmlns:a16="http://schemas.microsoft.com/office/drawing/2014/main" id="{38DA5245-50E4-751C-34D2-679C566737DF}"/>
              </a:ext>
            </a:extLst>
          </p:cNvPr>
          <p:cNvSpPr txBox="1"/>
          <p:nvPr/>
        </p:nvSpPr>
        <p:spPr>
          <a:xfrm>
            <a:off x="457200" y="1473419"/>
            <a:ext cx="16801773" cy="6950044"/>
          </a:xfrm>
          <a:prstGeom prst="rect">
            <a:avLst/>
          </a:prstGeom>
        </p:spPr>
        <p:txBody>
          <a:bodyPr lIns="0" tIns="0" rIns="0" bIns="0" rtlCol="0" anchor="t">
            <a:spAutoFit/>
          </a:bodyPr>
          <a:lstStyle/>
          <a:p>
            <a:pPr algn="just">
              <a:lnSpc>
                <a:spcPts val="4200"/>
              </a:lnSpc>
            </a:pPr>
            <a:endParaRPr lang="en-US" sz="4000" b="1" dirty="0">
              <a:solidFill>
                <a:schemeClr val="tx2">
                  <a:lumMod val="40000"/>
                  <a:lumOff val="60000"/>
                </a:schemeClr>
              </a:solidFill>
              <a:latin typeface="Times New Roman" panose="02020603050405020304" pitchFamily="18" charset="0"/>
              <a:ea typeface="Canva Sans Bold"/>
              <a:cs typeface="Times New Roman" panose="02020603050405020304" pitchFamily="18" charset="0"/>
              <a:sym typeface="Canva Sans Bold"/>
            </a:endParaRPr>
          </a:p>
          <a:p>
            <a:pPr algn="just">
              <a:lnSpc>
                <a:spcPts val="4200"/>
              </a:lnSpc>
            </a:pPr>
            <a:r>
              <a:rPr lang="en-US" sz="4500" b="1" dirty="0">
                <a:solidFill>
                  <a:schemeClr val="tx2">
                    <a:lumMod val="40000"/>
                    <a:lumOff val="60000"/>
                  </a:schemeClr>
                </a:solidFill>
                <a:latin typeface="Times New Roman" panose="02020603050405020304" pitchFamily="18" charset="0"/>
                <a:ea typeface="Canva Sans Bold"/>
                <a:cs typeface="Times New Roman" panose="02020603050405020304" pitchFamily="18" charset="0"/>
                <a:sym typeface="Canva Sans Bold"/>
              </a:rPr>
              <a:t>FEATURES OF APP:</a:t>
            </a:r>
          </a:p>
          <a:p>
            <a:pPr algn="just">
              <a:lnSpc>
                <a:spcPts val="4200"/>
              </a:lnSpc>
            </a:pPr>
            <a:endParaRPr lang="en-US" sz="4000" b="1" dirty="0">
              <a:solidFill>
                <a:schemeClr val="tx2">
                  <a:lumMod val="40000"/>
                  <a:lumOff val="60000"/>
                </a:schemeClr>
              </a:solidFill>
              <a:latin typeface="Times New Roman" panose="02020603050405020304" pitchFamily="18" charset="0"/>
              <a:ea typeface="Canva Sans Bold"/>
              <a:cs typeface="Times New Roman" panose="02020603050405020304" pitchFamily="18" charset="0"/>
              <a:sym typeface="Canva Sans Bold"/>
            </a:endParaRPr>
          </a:p>
          <a:p>
            <a:pPr algn="just">
              <a:lnSpc>
                <a:spcPts val="4200"/>
              </a:lnSpc>
            </a:pPr>
            <a:r>
              <a:rPr lang="en-US" sz="2500" b="1" dirty="0">
                <a:solidFill>
                  <a:srgbClr val="FFFF00"/>
                </a:solidFill>
                <a:latin typeface="Canva Sans Bold"/>
                <a:ea typeface="Canva Sans Bold"/>
                <a:cs typeface="Canva Sans Bold"/>
                <a:sym typeface="Canva Sans Bold"/>
              </a:rPr>
              <a:t>Automatic Guard Mode →</a:t>
            </a:r>
            <a:r>
              <a:rPr lang="en-US" sz="2500" dirty="0">
                <a:solidFill>
                  <a:srgbClr val="FFFF00"/>
                </a:solidFill>
                <a:latin typeface="Canva Sans"/>
                <a:ea typeface="Canva Sans"/>
                <a:cs typeface="Canva Sans"/>
                <a:sym typeface="Canva Sans"/>
              </a:rPr>
              <a:t> </a:t>
            </a:r>
            <a:r>
              <a:rPr lang="en-US" sz="2500" dirty="0">
                <a:solidFill>
                  <a:srgbClr val="FAFDFD"/>
                </a:solidFill>
                <a:latin typeface="Canva Sans"/>
                <a:ea typeface="Canva Sans"/>
                <a:cs typeface="Canva Sans"/>
                <a:sym typeface="Canva Sans"/>
              </a:rPr>
              <a:t>Starts automatically when the user confirms they are travelling and runs in the background without needing to open the app.</a:t>
            </a:r>
          </a:p>
          <a:p>
            <a:pPr algn="just">
              <a:lnSpc>
                <a:spcPts val="4200"/>
              </a:lnSpc>
            </a:pPr>
            <a:r>
              <a:rPr lang="en-US" sz="2500" b="1" dirty="0">
                <a:solidFill>
                  <a:srgbClr val="FFFF00"/>
                </a:solidFill>
                <a:latin typeface="Canva Sans Bold"/>
                <a:ea typeface="Canva Sans Bold"/>
                <a:cs typeface="Canva Sans Bold"/>
                <a:sym typeface="Canva Sans Bold"/>
              </a:rPr>
              <a:t>Route-Based Risk Detection → </a:t>
            </a:r>
            <a:r>
              <a:rPr lang="en-US" sz="2500" dirty="0">
                <a:solidFill>
                  <a:srgbClr val="FAFDFD"/>
                </a:solidFill>
                <a:latin typeface="Canva Sans"/>
                <a:ea typeface="Canva Sans"/>
                <a:cs typeface="Canva Sans"/>
                <a:sym typeface="Canva Sans"/>
              </a:rPr>
              <a:t>Analyzes whether the user is on a crowded main road or an isolated path and adjusts safety checks accordingly.</a:t>
            </a:r>
          </a:p>
          <a:p>
            <a:pPr algn="just">
              <a:lnSpc>
                <a:spcPts val="4200"/>
              </a:lnSpc>
            </a:pPr>
            <a:r>
              <a:rPr lang="en-US" sz="2500" b="1" dirty="0">
                <a:solidFill>
                  <a:srgbClr val="FFFF00"/>
                </a:solidFill>
                <a:latin typeface="Canva Sans Bold"/>
                <a:ea typeface="Canva Sans Bold"/>
                <a:cs typeface="Canva Sans Bold"/>
                <a:sym typeface="Canva Sans Bold"/>
              </a:rPr>
              <a:t>Time-Based Risk Monitoring →</a:t>
            </a:r>
            <a:r>
              <a:rPr lang="en-US" sz="2500" dirty="0">
                <a:solidFill>
                  <a:srgbClr val="FFFF00"/>
                </a:solidFill>
                <a:latin typeface="Canva Sans"/>
                <a:ea typeface="Canva Sans"/>
                <a:cs typeface="Canva Sans"/>
                <a:sym typeface="Canva Sans"/>
              </a:rPr>
              <a:t> </a:t>
            </a:r>
            <a:r>
              <a:rPr lang="en-US" sz="2500" dirty="0">
                <a:solidFill>
                  <a:srgbClr val="FAFDFD"/>
                </a:solidFill>
                <a:latin typeface="Canva Sans"/>
                <a:ea typeface="Canva Sans"/>
                <a:cs typeface="Canva Sans"/>
                <a:sym typeface="Canva Sans"/>
              </a:rPr>
              <a:t>Increases alertness during late night or early morning hours </a:t>
            </a:r>
          </a:p>
          <a:p>
            <a:pPr algn="just">
              <a:lnSpc>
                <a:spcPts val="4200"/>
              </a:lnSpc>
            </a:pPr>
            <a:r>
              <a:rPr lang="en-US" sz="2500" dirty="0">
                <a:solidFill>
                  <a:srgbClr val="FAFDFD"/>
                </a:solidFill>
                <a:latin typeface="Canva Sans"/>
                <a:ea typeface="Canva Sans"/>
                <a:cs typeface="Canva Sans"/>
                <a:sym typeface="Canva Sans"/>
              </a:rPr>
              <a:t>when risk is generally higher.</a:t>
            </a:r>
          </a:p>
          <a:p>
            <a:pPr algn="just">
              <a:lnSpc>
                <a:spcPts val="4200"/>
              </a:lnSpc>
            </a:pPr>
            <a:r>
              <a:rPr lang="en-US" sz="2500" b="1" dirty="0">
                <a:solidFill>
                  <a:srgbClr val="FFFF00"/>
                </a:solidFill>
                <a:latin typeface="Canva Sans Bold"/>
                <a:ea typeface="Canva Sans Bold"/>
                <a:cs typeface="Canva Sans Bold"/>
                <a:sym typeface="Canva Sans Bold"/>
              </a:rPr>
              <a:t>Movement Pattern Analysis →</a:t>
            </a:r>
            <a:r>
              <a:rPr lang="en-US" sz="2500" dirty="0">
                <a:solidFill>
                  <a:srgbClr val="FFFF00"/>
                </a:solidFill>
                <a:latin typeface="Canva Sans"/>
                <a:ea typeface="Canva Sans"/>
                <a:cs typeface="Canva Sans"/>
                <a:sym typeface="Canva Sans"/>
              </a:rPr>
              <a:t> </a:t>
            </a:r>
            <a:r>
              <a:rPr lang="en-US" sz="2500" dirty="0">
                <a:solidFill>
                  <a:srgbClr val="FAFDFD"/>
                </a:solidFill>
                <a:latin typeface="Canva Sans"/>
                <a:ea typeface="Canva Sans"/>
                <a:cs typeface="Canva Sans"/>
                <a:sym typeface="Canva Sans"/>
              </a:rPr>
              <a:t>Detects whether the user is walking,                     </a:t>
            </a:r>
          </a:p>
          <a:p>
            <a:pPr algn="just">
              <a:lnSpc>
                <a:spcPts val="4200"/>
              </a:lnSpc>
            </a:pPr>
            <a:r>
              <a:rPr lang="en-US" sz="2500" dirty="0">
                <a:solidFill>
                  <a:srgbClr val="FAFDFD"/>
                </a:solidFill>
                <a:latin typeface="Canva Sans"/>
                <a:ea typeface="Canva Sans"/>
                <a:cs typeface="Canva Sans"/>
                <a:sym typeface="Canva Sans"/>
              </a:rPr>
              <a:t> in a vehicle, or has stopped unusually in a risky area.</a:t>
            </a:r>
          </a:p>
          <a:p>
            <a:pPr algn="just">
              <a:lnSpc>
                <a:spcPts val="4200"/>
              </a:lnSpc>
            </a:pPr>
            <a:r>
              <a:rPr lang="en-US" sz="2500" b="1" dirty="0">
                <a:solidFill>
                  <a:srgbClr val="FFFF00"/>
                </a:solidFill>
                <a:latin typeface="Canva Sans Bold"/>
                <a:ea typeface="Canva Sans Bold"/>
                <a:cs typeface="Canva Sans Bold"/>
                <a:sym typeface="Canva Sans Bold"/>
              </a:rPr>
              <a:t>Multilingual Voice AI Interaction →</a:t>
            </a:r>
            <a:r>
              <a:rPr lang="en-US" sz="2500" dirty="0">
                <a:solidFill>
                  <a:srgbClr val="FFFF00"/>
                </a:solidFill>
                <a:latin typeface="Canva Sans"/>
                <a:ea typeface="Canva Sans"/>
                <a:cs typeface="Canva Sans"/>
                <a:sym typeface="Canva Sans"/>
              </a:rPr>
              <a:t> </a:t>
            </a:r>
            <a:r>
              <a:rPr lang="en-US" sz="2500" dirty="0">
                <a:solidFill>
                  <a:srgbClr val="FAFDFD"/>
                </a:solidFill>
                <a:latin typeface="Canva Sans"/>
                <a:ea typeface="Canva Sans"/>
                <a:cs typeface="Canva Sans"/>
                <a:sym typeface="Canva Sans"/>
              </a:rPr>
              <a:t>Periodically asks the </a:t>
            </a:r>
          </a:p>
          <a:p>
            <a:pPr algn="just">
              <a:lnSpc>
                <a:spcPts val="4200"/>
              </a:lnSpc>
            </a:pPr>
            <a:r>
              <a:rPr lang="en-US" sz="2500" dirty="0">
                <a:solidFill>
                  <a:srgbClr val="FAFDFD"/>
                </a:solidFill>
                <a:latin typeface="Canva Sans"/>
                <a:ea typeface="Canva Sans"/>
                <a:cs typeface="Canva Sans"/>
                <a:sym typeface="Canva Sans"/>
              </a:rPr>
              <a:t>user “Are you safe?” and understands responses in multiple languages.</a:t>
            </a:r>
          </a:p>
        </p:txBody>
      </p:sp>
    </p:spTree>
    <p:extLst>
      <p:ext uri="{BB962C8B-B14F-4D97-AF65-F5344CB8AC3E}">
        <p14:creationId xmlns:p14="http://schemas.microsoft.com/office/powerpoint/2010/main" val="1320518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1028700" y="1385474"/>
            <a:ext cx="17259300" cy="7134225"/>
          </a:xfrm>
          <a:prstGeom prst="rect">
            <a:avLst/>
          </a:prstGeom>
        </p:spPr>
        <p:txBody>
          <a:bodyPr lIns="0" tIns="0" rIns="0" bIns="0" rtlCol="0" anchor="t">
            <a:spAutoFit/>
          </a:bodyPr>
          <a:lstStyle/>
          <a:p>
            <a:pPr algn="l">
              <a:lnSpc>
                <a:spcPts val="3300"/>
              </a:lnSpc>
              <a:spcBef>
                <a:spcPct val="0"/>
              </a:spcBef>
            </a:pPr>
            <a:endParaRPr dirty="0"/>
          </a:p>
          <a:p>
            <a:pPr algn="l">
              <a:lnSpc>
                <a:spcPts val="3300"/>
              </a:lnSpc>
              <a:spcBef>
                <a:spcPct val="0"/>
              </a:spcBef>
            </a:pPr>
            <a:r>
              <a:rPr lang="en-US" sz="3000" dirty="0">
                <a:solidFill>
                  <a:srgbClr val="FFFFFF"/>
                </a:solidFill>
                <a:latin typeface="Canva Sans"/>
                <a:ea typeface="Canva Sans"/>
                <a:cs typeface="Canva Sans"/>
                <a:sym typeface="Canva Sans"/>
              </a:rPr>
              <a:t> </a:t>
            </a:r>
            <a:r>
              <a:rPr lang="en-US" sz="3000" b="1" dirty="0">
                <a:solidFill>
                  <a:srgbClr val="FFFF00"/>
                </a:solidFill>
                <a:latin typeface="Canva Sans Bold"/>
                <a:ea typeface="Canva Sans Bold"/>
                <a:cs typeface="Canva Sans Bold"/>
                <a:sym typeface="Canva Sans Bold"/>
              </a:rPr>
              <a:t>3-Step Safety Verification →</a:t>
            </a:r>
            <a:r>
              <a:rPr lang="en-US" sz="3000" dirty="0">
                <a:solidFill>
                  <a:srgbClr val="FFFF00"/>
                </a:solidFill>
                <a:latin typeface="Canva Sans"/>
                <a:ea typeface="Canva Sans"/>
                <a:cs typeface="Canva Sans"/>
                <a:sym typeface="Canva Sans"/>
              </a:rPr>
              <a:t> </a:t>
            </a:r>
            <a:r>
              <a:rPr lang="en-US" sz="3000" dirty="0">
                <a:solidFill>
                  <a:srgbClr val="FFFFFF"/>
                </a:solidFill>
                <a:latin typeface="Canva Sans"/>
                <a:ea typeface="Canva Sans"/>
                <a:cs typeface="Canva Sans"/>
                <a:sym typeface="Canva Sans"/>
              </a:rPr>
              <a:t>Performs repeated checks before </a:t>
            </a:r>
          </a:p>
          <a:p>
            <a:pPr algn="l">
              <a:lnSpc>
                <a:spcPts val="3300"/>
              </a:lnSpc>
              <a:spcBef>
                <a:spcPct val="0"/>
              </a:spcBef>
            </a:pPr>
            <a:r>
              <a:rPr lang="en-US" sz="3000" dirty="0">
                <a:solidFill>
                  <a:srgbClr val="FFFFFF"/>
                </a:solidFill>
                <a:latin typeface="Canva Sans"/>
                <a:ea typeface="Canva Sans"/>
                <a:cs typeface="Canva Sans"/>
                <a:sym typeface="Canva Sans"/>
              </a:rPr>
              <a:t>triggering alerts to reduce false alarms.</a:t>
            </a:r>
          </a:p>
          <a:p>
            <a:pPr algn="l">
              <a:lnSpc>
                <a:spcPts val="3300"/>
              </a:lnSpc>
              <a:spcBef>
                <a:spcPct val="0"/>
              </a:spcBef>
            </a:pPr>
            <a:endParaRPr lang="en-US" sz="3000" dirty="0">
              <a:solidFill>
                <a:srgbClr val="FFFFFF"/>
              </a:solidFill>
              <a:latin typeface="Canva Sans"/>
              <a:ea typeface="Canva Sans"/>
              <a:cs typeface="Canva Sans"/>
              <a:sym typeface="Canva Sans"/>
            </a:endParaRPr>
          </a:p>
          <a:p>
            <a:pPr algn="l">
              <a:lnSpc>
                <a:spcPts val="3300"/>
              </a:lnSpc>
              <a:spcBef>
                <a:spcPct val="0"/>
              </a:spcBef>
            </a:pPr>
            <a:r>
              <a:rPr lang="en-US" sz="3000" b="1" dirty="0">
                <a:solidFill>
                  <a:srgbClr val="FFFF00"/>
                </a:solidFill>
                <a:latin typeface="Canva Sans Bold"/>
                <a:ea typeface="Canva Sans Bold"/>
                <a:cs typeface="Canva Sans Bold"/>
                <a:sym typeface="Canva Sans Bold"/>
              </a:rPr>
              <a:t>Automatic Emergency Alert →</a:t>
            </a:r>
            <a:r>
              <a:rPr lang="en-US" sz="3000" dirty="0">
                <a:solidFill>
                  <a:srgbClr val="FFFF00"/>
                </a:solidFill>
                <a:latin typeface="Canva Sans"/>
                <a:ea typeface="Canva Sans"/>
                <a:cs typeface="Canva Sans"/>
                <a:sym typeface="Canva Sans"/>
              </a:rPr>
              <a:t> </a:t>
            </a:r>
            <a:r>
              <a:rPr lang="en-US" sz="3000" dirty="0">
                <a:solidFill>
                  <a:srgbClr val="FFFFFF"/>
                </a:solidFill>
                <a:latin typeface="Canva Sans"/>
                <a:ea typeface="Canva Sans"/>
                <a:cs typeface="Canva Sans"/>
                <a:sym typeface="Canva Sans"/>
              </a:rPr>
              <a:t>Sends live location and alerts to emergency contacts and nearby police if the user fails to respond.</a:t>
            </a:r>
          </a:p>
          <a:p>
            <a:pPr algn="l">
              <a:lnSpc>
                <a:spcPts val="3300"/>
              </a:lnSpc>
              <a:spcBef>
                <a:spcPct val="0"/>
              </a:spcBef>
            </a:pPr>
            <a:endParaRPr lang="en-US" sz="3000" dirty="0">
              <a:solidFill>
                <a:srgbClr val="FFFF00"/>
              </a:solidFill>
              <a:latin typeface="Canva Sans"/>
              <a:ea typeface="Canva Sans"/>
              <a:cs typeface="Canva Sans"/>
              <a:sym typeface="Canva Sans"/>
            </a:endParaRPr>
          </a:p>
          <a:p>
            <a:pPr algn="l">
              <a:lnSpc>
                <a:spcPts val="3300"/>
              </a:lnSpc>
              <a:spcBef>
                <a:spcPct val="0"/>
              </a:spcBef>
            </a:pPr>
            <a:r>
              <a:rPr lang="en-US" sz="3000" b="1" dirty="0">
                <a:solidFill>
                  <a:srgbClr val="FFFF00"/>
                </a:solidFill>
                <a:latin typeface="Canva Sans Bold"/>
                <a:ea typeface="Canva Sans Bold"/>
                <a:cs typeface="Canva Sans Bold"/>
                <a:sym typeface="Canva Sans Bold"/>
              </a:rPr>
              <a:t>Works in Background (Foreground Service) →</a:t>
            </a:r>
            <a:r>
              <a:rPr lang="en-US" sz="3000" dirty="0">
                <a:solidFill>
                  <a:srgbClr val="FFFF00"/>
                </a:solidFill>
                <a:latin typeface="Canva Sans"/>
                <a:ea typeface="Canva Sans"/>
                <a:cs typeface="Canva Sans"/>
                <a:sym typeface="Canva Sans"/>
              </a:rPr>
              <a:t> </a:t>
            </a:r>
            <a:r>
              <a:rPr lang="en-US" sz="3000" dirty="0">
                <a:solidFill>
                  <a:srgbClr val="FFFFFF"/>
                </a:solidFill>
                <a:latin typeface="Canva Sans"/>
                <a:ea typeface="Canva Sans"/>
                <a:cs typeface="Canva Sans"/>
                <a:sym typeface="Canva Sans"/>
              </a:rPr>
              <a:t>Continues monitoring without interrupting other phone activities.</a:t>
            </a:r>
          </a:p>
          <a:p>
            <a:pPr algn="l">
              <a:lnSpc>
                <a:spcPts val="3300"/>
              </a:lnSpc>
              <a:spcBef>
                <a:spcPct val="0"/>
              </a:spcBef>
            </a:pPr>
            <a:endParaRPr lang="en-US" sz="3000" dirty="0">
              <a:solidFill>
                <a:srgbClr val="FFFFFF"/>
              </a:solidFill>
              <a:latin typeface="Canva Sans"/>
              <a:ea typeface="Canva Sans"/>
              <a:cs typeface="Canva Sans"/>
              <a:sym typeface="Canva Sans"/>
            </a:endParaRPr>
          </a:p>
          <a:p>
            <a:pPr algn="l">
              <a:lnSpc>
                <a:spcPts val="3300"/>
              </a:lnSpc>
              <a:spcBef>
                <a:spcPct val="0"/>
              </a:spcBef>
            </a:pPr>
            <a:r>
              <a:rPr lang="en-US" sz="3000" b="1" dirty="0">
                <a:solidFill>
                  <a:srgbClr val="FFFF00"/>
                </a:solidFill>
                <a:latin typeface="Canva Sans Bold"/>
                <a:ea typeface="Canva Sans Bold"/>
                <a:cs typeface="Canva Sans Bold"/>
                <a:sym typeface="Canva Sans Bold"/>
              </a:rPr>
              <a:t>Offline Safety Mode →</a:t>
            </a:r>
            <a:r>
              <a:rPr lang="en-US" sz="3000" dirty="0">
                <a:solidFill>
                  <a:srgbClr val="FFFF00"/>
                </a:solidFill>
                <a:latin typeface="Canva Sans"/>
                <a:ea typeface="Canva Sans"/>
                <a:cs typeface="Canva Sans"/>
                <a:sym typeface="Canva Sans"/>
              </a:rPr>
              <a:t> </a:t>
            </a:r>
            <a:r>
              <a:rPr lang="en-US" sz="3000" dirty="0">
                <a:solidFill>
                  <a:srgbClr val="FFFFFF"/>
                </a:solidFill>
                <a:latin typeface="Canva Sans"/>
                <a:ea typeface="Canva Sans"/>
                <a:cs typeface="Canva Sans"/>
                <a:sym typeface="Canva Sans"/>
              </a:rPr>
              <a:t>Uses GPS, sensors, and SMS </a:t>
            </a:r>
          </a:p>
          <a:p>
            <a:pPr algn="l">
              <a:lnSpc>
                <a:spcPts val="3300"/>
              </a:lnSpc>
              <a:spcBef>
                <a:spcPct val="0"/>
              </a:spcBef>
            </a:pPr>
            <a:r>
              <a:rPr lang="en-US" sz="3000" dirty="0">
                <a:solidFill>
                  <a:srgbClr val="FFFFFF"/>
                </a:solidFill>
                <a:latin typeface="Canva Sans"/>
                <a:ea typeface="Canva Sans"/>
                <a:cs typeface="Canva Sans"/>
                <a:sym typeface="Canva Sans"/>
              </a:rPr>
              <a:t>alerts even when internet is not available.</a:t>
            </a:r>
          </a:p>
          <a:p>
            <a:pPr algn="l">
              <a:lnSpc>
                <a:spcPts val="3300"/>
              </a:lnSpc>
              <a:spcBef>
                <a:spcPct val="0"/>
              </a:spcBef>
            </a:pPr>
            <a:endParaRPr lang="en-US" sz="3000" dirty="0">
              <a:solidFill>
                <a:srgbClr val="FFFFFF"/>
              </a:solidFill>
              <a:latin typeface="Canva Sans"/>
              <a:ea typeface="Canva Sans"/>
              <a:cs typeface="Canva Sans"/>
              <a:sym typeface="Canva Sans"/>
            </a:endParaRPr>
          </a:p>
          <a:p>
            <a:pPr algn="l">
              <a:lnSpc>
                <a:spcPts val="3300"/>
              </a:lnSpc>
              <a:spcBef>
                <a:spcPct val="0"/>
              </a:spcBef>
            </a:pPr>
            <a:r>
              <a:rPr lang="en-US" sz="3000" b="1" dirty="0">
                <a:solidFill>
                  <a:srgbClr val="FFFF00"/>
                </a:solidFill>
                <a:latin typeface="Canva Sans Bold"/>
                <a:ea typeface="Canva Sans Bold"/>
                <a:cs typeface="Canva Sans Bold"/>
                <a:sym typeface="Canva Sans Bold"/>
              </a:rPr>
              <a:t>Dynamic Safety Map Creation →</a:t>
            </a:r>
            <a:r>
              <a:rPr lang="en-US" sz="3000" dirty="0">
                <a:solidFill>
                  <a:srgbClr val="FFFF00"/>
                </a:solidFill>
                <a:latin typeface="Canva Sans"/>
                <a:ea typeface="Canva Sans"/>
                <a:cs typeface="Canva Sans"/>
                <a:sym typeface="Canva Sans"/>
              </a:rPr>
              <a:t> </a:t>
            </a:r>
            <a:r>
              <a:rPr lang="en-US" sz="3000" dirty="0">
                <a:solidFill>
                  <a:srgbClr val="FFFFFF"/>
                </a:solidFill>
                <a:latin typeface="Canva Sans"/>
                <a:ea typeface="Canva Sans"/>
                <a:cs typeface="Canva Sans"/>
                <a:sym typeface="Canva Sans"/>
              </a:rPr>
              <a:t>Builds route safety </a:t>
            </a:r>
          </a:p>
          <a:p>
            <a:pPr algn="l">
              <a:lnSpc>
                <a:spcPts val="3300"/>
              </a:lnSpc>
              <a:spcBef>
                <a:spcPct val="0"/>
              </a:spcBef>
            </a:pPr>
            <a:r>
              <a:rPr lang="en-US" sz="3000" dirty="0">
                <a:solidFill>
                  <a:srgbClr val="FFFFFF"/>
                </a:solidFill>
                <a:latin typeface="Canva Sans"/>
                <a:ea typeface="Canva Sans"/>
                <a:cs typeface="Canva Sans"/>
                <a:sym typeface="Canva Sans"/>
              </a:rPr>
              <a:t>intelligence automatically using news data and user </a:t>
            </a:r>
          </a:p>
          <a:p>
            <a:pPr algn="l">
              <a:lnSpc>
                <a:spcPts val="3300"/>
              </a:lnSpc>
              <a:spcBef>
                <a:spcPct val="0"/>
              </a:spcBef>
            </a:pPr>
            <a:r>
              <a:rPr lang="en-US" sz="3000" dirty="0">
                <a:solidFill>
                  <a:srgbClr val="FFFFFF"/>
                </a:solidFill>
                <a:latin typeface="Canva Sans"/>
                <a:ea typeface="Canva Sans"/>
                <a:cs typeface="Canva Sans"/>
                <a:sym typeface="Canva Sans"/>
              </a:rPr>
              <a:t>movement patterns.</a:t>
            </a:r>
          </a:p>
          <a:p>
            <a:pPr algn="l">
              <a:lnSpc>
                <a:spcPts val="3300"/>
              </a:lnSpc>
              <a:spcBef>
                <a:spcPct val="0"/>
              </a:spcBef>
            </a:pPr>
            <a:endParaRPr lang="en-US" sz="3000" dirty="0">
              <a:solidFill>
                <a:srgbClr val="FFFFFF"/>
              </a:solidFill>
              <a:latin typeface="Canva Sans"/>
              <a:ea typeface="Canva Sans"/>
              <a:cs typeface="Canva Sans"/>
              <a:sym typeface="Canva Sans"/>
            </a:endParaRPr>
          </a:p>
        </p:txBody>
      </p:sp>
      <p:sp>
        <p:nvSpPr>
          <p:cNvPr id="3" name="Freeform 3"/>
          <p:cNvSpPr/>
          <p:nvPr/>
        </p:nvSpPr>
        <p:spPr>
          <a:xfrm flipH="1">
            <a:off x="14972218" y="7129889"/>
            <a:ext cx="1172098" cy="975772"/>
          </a:xfrm>
          <a:custGeom>
            <a:avLst/>
            <a:gdLst/>
            <a:ahLst/>
            <a:cxnLst/>
            <a:rect l="l" t="t" r="r" b="b"/>
            <a:pathLst>
              <a:path w="1172098" h="975772">
                <a:moveTo>
                  <a:pt x="1172098" y="0"/>
                </a:moveTo>
                <a:lnTo>
                  <a:pt x="0" y="0"/>
                </a:lnTo>
                <a:lnTo>
                  <a:pt x="0" y="975772"/>
                </a:lnTo>
                <a:lnTo>
                  <a:pt x="1172098" y="975772"/>
                </a:lnTo>
                <a:lnTo>
                  <a:pt x="1172098"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Freeform 6"/>
          <p:cNvSpPr/>
          <p:nvPr/>
        </p:nvSpPr>
        <p:spPr>
          <a:xfrm>
            <a:off x="11645912" y="4991493"/>
            <a:ext cx="6317991" cy="5052352"/>
          </a:xfrm>
          <a:custGeom>
            <a:avLst/>
            <a:gdLst/>
            <a:ahLst/>
            <a:cxnLst/>
            <a:rect l="l" t="t" r="r" b="b"/>
            <a:pathLst>
              <a:path w="6317991" h="5052352">
                <a:moveTo>
                  <a:pt x="0" y="0"/>
                </a:moveTo>
                <a:lnTo>
                  <a:pt x="6317991" y="0"/>
                </a:lnTo>
                <a:lnTo>
                  <a:pt x="6317991" y="5052352"/>
                </a:lnTo>
                <a:lnTo>
                  <a:pt x="0" y="5052352"/>
                </a:lnTo>
                <a:lnTo>
                  <a:pt x="0" y="0"/>
                </a:lnTo>
                <a:close/>
              </a:path>
            </a:pathLst>
          </a:custGeom>
          <a:blipFill>
            <a:blip r:embed="rId3"/>
            <a:stretch>
              <a:fillRect/>
            </a:stretch>
          </a:blipFill>
        </p:spPr>
      </p:sp>
      <p:sp>
        <p:nvSpPr>
          <p:cNvPr id="4" name="Freeform 5">
            <a:extLst>
              <a:ext uri="{FF2B5EF4-FFF2-40B4-BE49-F238E27FC236}">
                <a16:creationId xmlns:a16="http://schemas.microsoft.com/office/drawing/2014/main" id="{A007C46C-8BFE-8718-59A3-D8B49C2C774D}"/>
              </a:ext>
            </a:extLst>
          </p:cNvPr>
          <p:cNvSpPr/>
          <p:nvPr/>
        </p:nvSpPr>
        <p:spPr>
          <a:xfrm flipH="1">
            <a:off x="14700265" y="834510"/>
            <a:ext cx="1172098" cy="975772"/>
          </a:xfrm>
          <a:custGeom>
            <a:avLst/>
            <a:gdLst/>
            <a:ahLst/>
            <a:cxnLst/>
            <a:rect l="l" t="t" r="r" b="b"/>
            <a:pathLst>
              <a:path w="1172098" h="975772">
                <a:moveTo>
                  <a:pt x="1172098" y="0"/>
                </a:moveTo>
                <a:lnTo>
                  <a:pt x="0" y="0"/>
                </a:lnTo>
                <a:lnTo>
                  <a:pt x="0" y="975771"/>
                </a:lnTo>
                <a:lnTo>
                  <a:pt x="1172098" y="975771"/>
                </a:lnTo>
                <a:lnTo>
                  <a:pt x="1172098" y="0"/>
                </a:lnTo>
                <a:close/>
              </a:path>
            </a:pathLst>
          </a:custGeom>
          <a:blipFill>
            <a:blip>
              <a:extLst>
                <a:ext uri="{96DAC541-7B7A-43D3-8B79-37D633B846F1}">
                  <asvg:svgBlip xmlns:asvg="http://schemas.microsoft.com/office/drawing/2016/SVG/main" r:embed="rId2"/>
                </a:ext>
              </a:extLst>
            </a:blip>
            <a:stretch>
              <a:fillRect/>
            </a:stretch>
          </a:blipFill>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flipV="1">
            <a:off x="0" y="8630600"/>
            <a:ext cx="18288000" cy="1656400"/>
          </a:xfrm>
          <a:custGeom>
            <a:avLst/>
            <a:gdLst/>
            <a:ahLst/>
            <a:cxnLst/>
            <a:rect l="l" t="t" r="r" b="b"/>
            <a:pathLst>
              <a:path w="23426234" h="1656400">
                <a:moveTo>
                  <a:pt x="0" y="1656400"/>
                </a:moveTo>
                <a:lnTo>
                  <a:pt x="23426234" y="1656400"/>
                </a:lnTo>
                <a:lnTo>
                  <a:pt x="23426234" y="0"/>
                </a:lnTo>
                <a:lnTo>
                  <a:pt x="0" y="0"/>
                </a:lnTo>
                <a:lnTo>
                  <a:pt x="0" y="1656400"/>
                </a:lnTo>
                <a:close/>
              </a:path>
            </a:pathLst>
          </a:custGeom>
          <a:blipFill>
            <a:blip>
              <a:extLst>
                <a:ext uri="{96DAC541-7B7A-43D3-8B79-37D633B846F1}">
                  <asvg:svgBlip xmlns:asvg="http://schemas.microsoft.com/office/drawing/2016/SVG/main" r:embed="rId2"/>
                </a:ext>
              </a:extLst>
            </a:blip>
            <a:stretch>
              <a:fillRect/>
            </a:stretch>
          </a:blipFill>
        </p:spPr>
      </p:sp>
      <p:sp>
        <p:nvSpPr>
          <p:cNvPr id="3" name="TextBox 3"/>
          <p:cNvSpPr txBox="1"/>
          <p:nvPr/>
        </p:nvSpPr>
        <p:spPr>
          <a:xfrm>
            <a:off x="4603213" y="446083"/>
            <a:ext cx="9041600" cy="1205971"/>
          </a:xfrm>
          <a:prstGeom prst="rect">
            <a:avLst/>
          </a:prstGeom>
        </p:spPr>
        <p:txBody>
          <a:bodyPr lIns="0" tIns="0" rIns="0" bIns="0" rtlCol="0" anchor="t">
            <a:spAutoFit/>
          </a:bodyPr>
          <a:lstStyle/>
          <a:p>
            <a:pPr algn="ctr">
              <a:lnSpc>
                <a:spcPts val="9350"/>
              </a:lnSpc>
            </a:pPr>
            <a:r>
              <a:rPr lang="en-US" sz="8500" b="1" dirty="0">
                <a:solidFill>
                  <a:schemeClr val="bg1"/>
                </a:solidFill>
                <a:latin typeface="Cooper Hewitt Bold"/>
                <a:ea typeface="Cooper Hewitt Bold"/>
                <a:cs typeface="Cooper Hewitt Bold"/>
                <a:sym typeface="Cooper Hewitt Bold"/>
              </a:rPr>
              <a:t>WORKFLOW</a:t>
            </a:r>
          </a:p>
        </p:txBody>
      </p:sp>
      <p:sp>
        <p:nvSpPr>
          <p:cNvPr id="5" name="Freeform 5"/>
          <p:cNvSpPr/>
          <p:nvPr/>
        </p:nvSpPr>
        <p:spPr>
          <a:xfrm>
            <a:off x="2534828" y="327084"/>
            <a:ext cx="1172098" cy="975772"/>
          </a:xfrm>
          <a:custGeom>
            <a:avLst/>
            <a:gdLst/>
            <a:ahLst/>
            <a:cxnLst/>
            <a:rect l="l" t="t" r="r" b="b"/>
            <a:pathLst>
              <a:path w="1172098" h="975772">
                <a:moveTo>
                  <a:pt x="0" y="0"/>
                </a:moveTo>
                <a:lnTo>
                  <a:pt x="1172098" y="0"/>
                </a:lnTo>
                <a:lnTo>
                  <a:pt x="1172098" y="975772"/>
                </a:lnTo>
                <a:lnTo>
                  <a:pt x="0" y="975772"/>
                </a:lnTo>
                <a:lnTo>
                  <a:pt x="0" y="0"/>
                </a:lnTo>
                <a:close/>
              </a:path>
            </a:pathLst>
          </a:custGeom>
          <a:blipFill>
            <a:blip>
              <a:extLst>
                <a:ext uri="{96DAC541-7B7A-43D3-8B79-37D633B846F1}">
                  <asvg:svgBlip xmlns:asvg="http://schemas.microsoft.com/office/drawing/2016/SVG/main" r:embed="rId3"/>
                </a:ext>
              </a:extLst>
            </a:blip>
            <a:stretch>
              <a:fillRect/>
            </a:stretch>
          </a:blipFill>
        </p:spPr>
      </p:sp>
      <p:graphicFrame>
        <p:nvGraphicFramePr>
          <p:cNvPr id="14" name="Diagram 13">
            <a:extLst>
              <a:ext uri="{FF2B5EF4-FFF2-40B4-BE49-F238E27FC236}">
                <a16:creationId xmlns:a16="http://schemas.microsoft.com/office/drawing/2014/main" id="{0141D75E-EE0F-5197-5560-B65A6C6E6D74}"/>
              </a:ext>
            </a:extLst>
          </p:cNvPr>
          <p:cNvGraphicFramePr/>
          <p:nvPr>
            <p:extLst>
              <p:ext uri="{D42A27DB-BD31-4B8C-83A1-F6EECF244321}">
                <p14:modId xmlns:p14="http://schemas.microsoft.com/office/powerpoint/2010/main" val="1215655106"/>
              </p:ext>
            </p:extLst>
          </p:nvPr>
        </p:nvGraphicFramePr>
        <p:xfrm>
          <a:off x="0" y="1950576"/>
          <a:ext cx="12192000" cy="68072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7" name="Freeform 5">
            <a:extLst>
              <a:ext uri="{FF2B5EF4-FFF2-40B4-BE49-F238E27FC236}">
                <a16:creationId xmlns:a16="http://schemas.microsoft.com/office/drawing/2014/main" id="{25A8A23D-3FF2-5282-C31B-280B33198EBC}"/>
              </a:ext>
            </a:extLst>
          </p:cNvPr>
          <p:cNvSpPr/>
          <p:nvPr/>
        </p:nvSpPr>
        <p:spPr>
          <a:xfrm>
            <a:off x="13487400" y="561182"/>
            <a:ext cx="1172098" cy="975772"/>
          </a:xfrm>
          <a:custGeom>
            <a:avLst/>
            <a:gdLst/>
            <a:ahLst/>
            <a:cxnLst/>
            <a:rect l="l" t="t" r="r" b="b"/>
            <a:pathLst>
              <a:path w="1172098" h="975772">
                <a:moveTo>
                  <a:pt x="0" y="0"/>
                </a:moveTo>
                <a:lnTo>
                  <a:pt x="1172098" y="0"/>
                </a:lnTo>
                <a:lnTo>
                  <a:pt x="1172098" y="975772"/>
                </a:lnTo>
                <a:lnTo>
                  <a:pt x="0" y="975772"/>
                </a:lnTo>
                <a:lnTo>
                  <a:pt x="0" y="0"/>
                </a:lnTo>
                <a:close/>
              </a:path>
            </a:pathLst>
          </a:custGeom>
          <a:blipFill>
            <a:blip>
              <a:extLst>
                <a:ext uri="{96DAC541-7B7A-43D3-8B79-37D633B846F1}">
                  <asvg:svgBlip xmlns:asvg="http://schemas.microsoft.com/office/drawing/2016/SVG/main" r:embed="rId3"/>
                </a:ext>
              </a:extLst>
            </a:blip>
            <a:stretch>
              <a:fillRect/>
            </a:stretch>
          </a:blipFill>
        </p:spPr>
      </p:sp>
      <p:pic>
        <p:nvPicPr>
          <p:cNvPr id="18" name="Picture 17">
            <a:extLst>
              <a:ext uri="{FF2B5EF4-FFF2-40B4-BE49-F238E27FC236}">
                <a16:creationId xmlns:a16="http://schemas.microsoft.com/office/drawing/2014/main" id="{66E320CB-79D6-2C08-D2A6-C0F60BED7CD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3030200" y="2508002"/>
            <a:ext cx="5043488" cy="582407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 name="Freeform 3"/>
          <p:cNvSpPr/>
          <p:nvPr/>
        </p:nvSpPr>
        <p:spPr>
          <a:xfrm flipV="1">
            <a:off x="0" y="8630600"/>
            <a:ext cx="18288000" cy="1656400"/>
          </a:xfrm>
          <a:custGeom>
            <a:avLst/>
            <a:gdLst/>
            <a:ahLst/>
            <a:cxnLst/>
            <a:rect l="l" t="t" r="r" b="b"/>
            <a:pathLst>
              <a:path w="23426234" h="1656400">
                <a:moveTo>
                  <a:pt x="0" y="1656400"/>
                </a:moveTo>
                <a:lnTo>
                  <a:pt x="23426234" y="1656400"/>
                </a:lnTo>
                <a:lnTo>
                  <a:pt x="23426234" y="0"/>
                </a:lnTo>
                <a:lnTo>
                  <a:pt x="0" y="0"/>
                </a:lnTo>
                <a:lnTo>
                  <a:pt x="0" y="1656400"/>
                </a:lnTo>
                <a:close/>
              </a:path>
            </a:pathLst>
          </a:custGeom>
          <a:blipFill>
            <a:blip>
              <a:extLst>
                <a:ext uri="{96DAC541-7B7A-43D3-8B79-37D633B846F1}">
                  <asvg:svgBlip xmlns:asvg="http://schemas.microsoft.com/office/drawing/2016/SVG/main" r:embed="rId2"/>
                </a:ext>
              </a:extLst>
            </a:blip>
            <a:stretch>
              <a:fillRect/>
            </a:stretch>
          </a:blipFill>
        </p:spPr>
      </p:sp>
      <p:sp>
        <p:nvSpPr>
          <p:cNvPr id="6" name="Freeform 5">
            <a:extLst>
              <a:ext uri="{FF2B5EF4-FFF2-40B4-BE49-F238E27FC236}">
                <a16:creationId xmlns:a16="http://schemas.microsoft.com/office/drawing/2014/main" id="{826C01CA-621B-5DAC-F88C-D802CABF6CEF}"/>
              </a:ext>
            </a:extLst>
          </p:cNvPr>
          <p:cNvSpPr/>
          <p:nvPr/>
        </p:nvSpPr>
        <p:spPr>
          <a:xfrm>
            <a:off x="1143000" y="6972300"/>
            <a:ext cx="1172098" cy="975772"/>
          </a:xfrm>
          <a:custGeom>
            <a:avLst/>
            <a:gdLst/>
            <a:ahLst/>
            <a:cxnLst/>
            <a:rect l="l" t="t" r="r" b="b"/>
            <a:pathLst>
              <a:path w="1172098" h="975772">
                <a:moveTo>
                  <a:pt x="0" y="0"/>
                </a:moveTo>
                <a:lnTo>
                  <a:pt x="1172098" y="0"/>
                </a:lnTo>
                <a:lnTo>
                  <a:pt x="1172098" y="975772"/>
                </a:lnTo>
                <a:lnTo>
                  <a:pt x="0" y="975772"/>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Freeform 4">
            <a:extLst>
              <a:ext uri="{FF2B5EF4-FFF2-40B4-BE49-F238E27FC236}">
                <a16:creationId xmlns:a16="http://schemas.microsoft.com/office/drawing/2014/main" id="{DF641FB7-499C-7F8D-D41F-90AF94B13178}"/>
              </a:ext>
            </a:extLst>
          </p:cNvPr>
          <p:cNvSpPr/>
          <p:nvPr/>
        </p:nvSpPr>
        <p:spPr>
          <a:xfrm flipH="1">
            <a:off x="15697200" y="1061065"/>
            <a:ext cx="1172098" cy="975772"/>
          </a:xfrm>
          <a:custGeom>
            <a:avLst/>
            <a:gdLst/>
            <a:ahLst/>
            <a:cxnLst/>
            <a:rect l="l" t="t" r="r" b="b"/>
            <a:pathLst>
              <a:path w="1172098" h="975772">
                <a:moveTo>
                  <a:pt x="1172098" y="0"/>
                </a:moveTo>
                <a:lnTo>
                  <a:pt x="0" y="0"/>
                </a:lnTo>
                <a:lnTo>
                  <a:pt x="0" y="975771"/>
                </a:lnTo>
                <a:lnTo>
                  <a:pt x="1172098" y="975771"/>
                </a:lnTo>
                <a:lnTo>
                  <a:pt x="1172098" y="0"/>
                </a:lnTo>
                <a:close/>
              </a:path>
            </a:pathLst>
          </a:custGeom>
          <a:blipFill>
            <a:blip>
              <a:extLst>
                <a:ext uri="{96DAC541-7B7A-43D3-8B79-37D633B846F1}">
                  <asvg:svgBlip xmlns:asvg="http://schemas.microsoft.com/office/drawing/2016/SVG/main" r:embed="rId4"/>
                </a:ext>
              </a:extLst>
            </a:blip>
            <a:stretch>
              <a:fillRect/>
            </a:stretch>
          </a:blipFill>
        </p:spPr>
      </p:sp>
      <p:graphicFrame>
        <p:nvGraphicFramePr>
          <p:cNvPr id="8" name="Diagram 7">
            <a:extLst>
              <a:ext uri="{FF2B5EF4-FFF2-40B4-BE49-F238E27FC236}">
                <a16:creationId xmlns:a16="http://schemas.microsoft.com/office/drawing/2014/main" id="{7FEFB96E-4C83-7C2F-974B-AADF43E5D02A}"/>
              </a:ext>
            </a:extLst>
          </p:cNvPr>
          <p:cNvGraphicFramePr/>
          <p:nvPr>
            <p:extLst>
              <p:ext uri="{D42A27DB-BD31-4B8C-83A1-F6EECF244321}">
                <p14:modId xmlns:p14="http://schemas.microsoft.com/office/powerpoint/2010/main" val="3370214523"/>
              </p:ext>
            </p:extLst>
          </p:nvPr>
        </p:nvGraphicFramePr>
        <p:xfrm>
          <a:off x="0" y="1079500"/>
          <a:ext cx="12192000" cy="81280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12" name="Picture 11">
            <a:extLst>
              <a:ext uri="{FF2B5EF4-FFF2-40B4-BE49-F238E27FC236}">
                <a16:creationId xmlns:a16="http://schemas.microsoft.com/office/drawing/2014/main" id="{A191F063-5241-24B1-1310-612E971B6564}"/>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1658600" y="2705100"/>
            <a:ext cx="6057488" cy="605748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flipH="1">
            <a:off x="14782800" y="707381"/>
            <a:ext cx="1429200" cy="1189809"/>
          </a:xfrm>
          <a:custGeom>
            <a:avLst/>
            <a:gdLst/>
            <a:ahLst/>
            <a:cxnLst/>
            <a:rect l="l" t="t" r="r" b="b"/>
            <a:pathLst>
              <a:path w="1429200" h="1189809">
                <a:moveTo>
                  <a:pt x="1429200" y="0"/>
                </a:moveTo>
                <a:lnTo>
                  <a:pt x="0" y="0"/>
                </a:lnTo>
                <a:lnTo>
                  <a:pt x="0" y="1189808"/>
                </a:lnTo>
                <a:lnTo>
                  <a:pt x="1429200" y="1189808"/>
                </a:lnTo>
                <a:lnTo>
                  <a:pt x="142920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9819555" y="6743700"/>
            <a:ext cx="1172098" cy="975772"/>
          </a:xfrm>
          <a:custGeom>
            <a:avLst/>
            <a:gdLst/>
            <a:ahLst/>
            <a:cxnLst/>
            <a:rect l="l" t="t" r="r" b="b"/>
            <a:pathLst>
              <a:path w="1172098" h="975772">
                <a:moveTo>
                  <a:pt x="0" y="0"/>
                </a:moveTo>
                <a:lnTo>
                  <a:pt x="1172098" y="0"/>
                </a:lnTo>
                <a:lnTo>
                  <a:pt x="1172098" y="975772"/>
                </a:lnTo>
                <a:lnTo>
                  <a:pt x="0" y="97577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4" name="Freeform 4"/>
          <p:cNvSpPr/>
          <p:nvPr/>
        </p:nvSpPr>
        <p:spPr>
          <a:xfrm>
            <a:off x="13220306" y="2863285"/>
            <a:ext cx="4038994" cy="6431595"/>
          </a:xfrm>
          <a:custGeom>
            <a:avLst/>
            <a:gdLst/>
            <a:ahLst/>
            <a:cxnLst/>
            <a:rect l="l" t="t" r="r" b="b"/>
            <a:pathLst>
              <a:path w="4038994" h="6431595">
                <a:moveTo>
                  <a:pt x="0" y="0"/>
                </a:moveTo>
                <a:lnTo>
                  <a:pt x="4038994" y="0"/>
                </a:lnTo>
                <a:lnTo>
                  <a:pt x="4038994" y="6431595"/>
                </a:lnTo>
                <a:lnTo>
                  <a:pt x="0" y="6431595"/>
                </a:lnTo>
                <a:lnTo>
                  <a:pt x="0" y="0"/>
                </a:lnTo>
                <a:close/>
              </a:path>
            </a:pathLst>
          </a:custGeom>
          <a:blipFill>
            <a:blip r:embed="rId4"/>
            <a:stretch>
              <a:fillRect/>
            </a:stretch>
          </a:blipFill>
        </p:spPr>
      </p:sp>
      <p:sp>
        <p:nvSpPr>
          <p:cNvPr id="5" name="TextBox 5"/>
          <p:cNvSpPr txBox="1"/>
          <p:nvPr/>
        </p:nvSpPr>
        <p:spPr>
          <a:xfrm>
            <a:off x="4826437" y="850898"/>
            <a:ext cx="8635127" cy="1205458"/>
          </a:xfrm>
          <a:prstGeom prst="rect">
            <a:avLst/>
          </a:prstGeom>
        </p:spPr>
        <p:txBody>
          <a:bodyPr lIns="0" tIns="0" rIns="0" bIns="0" rtlCol="0" anchor="t">
            <a:spAutoFit/>
          </a:bodyPr>
          <a:lstStyle/>
          <a:p>
            <a:pPr algn="ctr">
              <a:lnSpc>
                <a:spcPts val="9350"/>
              </a:lnSpc>
              <a:spcBef>
                <a:spcPct val="0"/>
              </a:spcBef>
            </a:pPr>
            <a:r>
              <a:rPr lang="en-US" sz="8500" b="1" dirty="0">
                <a:solidFill>
                  <a:srgbClr val="FFFFFF"/>
                </a:solidFill>
                <a:latin typeface="Cambria Math" panose="02040503050406030204" pitchFamily="18" charset="0"/>
                <a:ea typeface="Cambria Math" panose="02040503050406030204" pitchFamily="18" charset="0"/>
                <a:cs typeface="Heading Now 71-78"/>
                <a:sym typeface="Heading Now 71-78"/>
              </a:rPr>
              <a:t>SURVEY</a:t>
            </a:r>
          </a:p>
        </p:txBody>
      </p:sp>
      <p:sp>
        <p:nvSpPr>
          <p:cNvPr id="6" name="TextBox 6"/>
          <p:cNvSpPr txBox="1"/>
          <p:nvPr/>
        </p:nvSpPr>
        <p:spPr>
          <a:xfrm>
            <a:off x="807963" y="3147946"/>
            <a:ext cx="11384037" cy="5950347"/>
          </a:xfrm>
          <a:prstGeom prst="rect">
            <a:avLst/>
          </a:prstGeom>
        </p:spPr>
        <p:txBody>
          <a:bodyPr wrap="square" lIns="0" tIns="0" rIns="0" bIns="0" rtlCol="0" anchor="t">
            <a:spAutoFit/>
          </a:bodyPr>
          <a:lstStyle/>
          <a:p>
            <a:pPr algn="just">
              <a:lnSpc>
                <a:spcPts val="4399"/>
              </a:lnSpc>
              <a:spcBef>
                <a:spcPct val="0"/>
              </a:spcBef>
            </a:pPr>
            <a:r>
              <a:rPr lang="en-US" sz="3999" b="1" dirty="0">
                <a:solidFill>
                  <a:srgbClr val="FFFFFF"/>
                </a:solidFill>
                <a:latin typeface="Cooper Hewitt Bold"/>
                <a:ea typeface="Cooper Hewitt Bold"/>
                <a:cs typeface="Cooper Hewitt Bold"/>
                <a:sym typeface="Cooper Hewitt Bold"/>
              </a:rPr>
              <a:t>112 India / 112 SOS</a:t>
            </a:r>
          </a:p>
          <a:p>
            <a:pPr algn="just">
              <a:lnSpc>
                <a:spcPts val="3470"/>
              </a:lnSpc>
              <a:spcBef>
                <a:spcPct val="0"/>
              </a:spcBef>
            </a:pPr>
            <a:endParaRPr lang="en-US" sz="3999" b="1" dirty="0">
              <a:solidFill>
                <a:srgbClr val="FFFFFF"/>
              </a:solidFill>
              <a:latin typeface="Cooper Hewitt Bold"/>
              <a:ea typeface="Cooper Hewitt Bold"/>
              <a:cs typeface="Cooper Hewitt Bold"/>
              <a:sym typeface="Cooper Hewitt Bold"/>
            </a:endParaRPr>
          </a:p>
          <a:p>
            <a:pPr marL="681078" lvl="1" indent="-340539" algn="just">
              <a:lnSpc>
                <a:spcPts val="3470"/>
              </a:lnSpc>
              <a:buFont typeface="Arial"/>
              <a:buChar char="•"/>
            </a:pPr>
            <a:r>
              <a:rPr lang="en-US" sz="3154" dirty="0">
                <a:solidFill>
                  <a:srgbClr val="FFFFFF"/>
                </a:solidFill>
                <a:latin typeface="Cooper Hewitt"/>
                <a:ea typeface="Cooper Hewitt"/>
                <a:cs typeface="Cooper Hewitt"/>
                <a:sym typeface="Cooper Hewitt"/>
              </a:rPr>
              <a:t>Unified emergency number app supported by the Government of India.</a:t>
            </a:r>
          </a:p>
          <a:p>
            <a:pPr algn="just">
              <a:lnSpc>
                <a:spcPts val="3470"/>
              </a:lnSpc>
              <a:spcBef>
                <a:spcPct val="0"/>
              </a:spcBef>
            </a:pPr>
            <a:endParaRPr lang="en-US" sz="3154" dirty="0">
              <a:solidFill>
                <a:srgbClr val="FFFFFF"/>
              </a:solidFill>
              <a:latin typeface="Cooper Hewitt"/>
              <a:ea typeface="Cooper Hewitt"/>
              <a:cs typeface="Cooper Hewitt"/>
              <a:sym typeface="Cooper Hewitt"/>
            </a:endParaRPr>
          </a:p>
          <a:p>
            <a:pPr marL="681078" lvl="1" indent="-340539" algn="just">
              <a:lnSpc>
                <a:spcPts val="3470"/>
              </a:lnSpc>
              <a:buFont typeface="Arial"/>
              <a:buChar char="•"/>
            </a:pPr>
            <a:r>
              <a:rPr lang="en-US" sz="3154" dirty="0">
                <a:solidFill>
                  <a:srgbClr val="FFFFFF"/>
                </a:solidFill>
                <a:latin typeface="Cooper Hewitt"/>
                <a:ea typeface="Cooper Hewitt"/>
                <a:cs typeface="Cooper Hewitt"/>
                <a:sym typeface="Cooper Hewitt"/>
              </a:rPr>
              <a:t>Provides quick access to police, fire, and medical services.</a:t>
            </a:r>
          </a:p>
          <a:p>
            <a:pPr algn="just">
              <a:lnSpc>
                <a:spcPts val="3470"/>
              </a:lnSpc>
              <a:spcBef>
                <a:spcPct val="0"/>
              </a:spcBef>
            </a:pPr>
            <a:endParaRPr lang="en-US" sz="3154" dirty="0">
              <a:solidFill>
                <a:srgbClr val="FFFFFF"/>
              </a:solidFill>
              <a:latin typeface="Cooper Hewitt"/>
              <a:ea typeface="Cooper Hewitt"/>
              <a:cs typeface="Cooper Hewitt"/>
              <a:sym typeface="Cooper Hewitt"/>
            </a:endParaRPr>
          </a:p>
          <a:p>
            <a:pPr marL="681078" lvl="1" indent="-340539" algn="just">
              <a:lnSpc>
                <a:spcPts val="3470"/>
              </a:lnSpc>
              <a:buFont typeface="Arial"/>
              <a:buChar char="•"/>
            </a:pPr>
            <a:r>
              <a:rPr lang="en-US" sz="3154" dirty="0">
                <a:solidFill>
                  <a:srgbClr val="FFFFFF"/>
                </a:solidFill>
                <a:latin typeface="Cooper Hewitt"/>
                <a:ea typeface="Cooper Hewitt"/>
                <a:cs typeface="Cooper Hewitt"/>
                <a:sym typeface="Cooper Hewitt"/>
              </a:rPr>
              <a:t>Allows SOS alerts with location.</a:t>
            </a:r>
          </a:p>
          <a:p>
            <a:pPr algn="just">
              <a:lnSpc>
                <a:spcPts val="3470"/>
              </a:lnSpc>
              <a:spcBef>
                <a:spcPct val="0"/>
              </a:spcBef>
            </a:pPr>
            <a:endParaRPr lang="en-US" sz="3154" dirty="0">
              <a:solidFill>
                <a:srgbClr val="FFFFFF"/>
              </a:solidFill>
              <a:latin typeface="Cooper Hewitt"/>
              <a:ea typeface="Cooper Hewitt"/>
              <a:cs typeface="Cooper Hewitt"/>
              <a:sym typeface="Cooper Hewitt"/>
            </a:endParaRPr>
          </a:p>
          <a:p>
            <a:pPr marL="681078" lvl="1" indent="-340539" algn="just">
              <a:lnSpc>
                <a:spcPts val="3470"/>
              </a:lnSpc>
              <a:buFont typeface="Arial"/>
              <a:buChar char="•"/>
            </a:pPr>
            <a:r>
              <a:rPr lang="en-US" sz="3154" dirty="0">
                <a:solidFill>
                  <a:srgbClr val="FFFFFF"/>
                </a:solidFill>
                <a:latin typeface="Cooper Hewitt"/>
                <a:ea typeface="Cooper Hewitt"/>
                <a:cs typeface="Cooper Hewitt"/>
                <a:sym typeface="Cooper Hewitt"/>
              </a:rPr>
              <a:t>Basic panic button and emergency call service.</a:t>
            </a:r>
          </a:p>
          <a:p>
            <a:pPr algn="just">
              <a:lnSpc>
                <a:spcPts val="3470"/>
              </a:lnSpc>
            </a:pPr>
            <a:endParaRPr lang="en-US" sz="3154" dirty="0">
              <a:solidFill>
                <a:srgbClr val="FFFFFF"/>
              </a:solidFill>
              <a:latin typeface="Cooper Hewitt"/>
              <a:ea typeface="Cooper Hewitt"/>
              <a:cs typeface="Cooper Hewitt"/>
              <a:sym typeface="Cooper Hewitt"/>
            </a:endParaRPr>
          </a:p>
          <a:p>
            <a:pPr marL="681078" lvl="1" indent="-340539" algn="just">
              <a:lnSpc>
                <a:spcPts val="3470"/>
              </a:lnSpc>
              <a:buFont typeface="Arial"/>
              <a:buChar char="•"/>
            </a:pPr>
            <a:r>
              <a:rPr lang="en-US" sz="3154" dirty="0">
                <a:solidFill>
                  <a:srgbClr val="FFFFFF"/>
                </a:solidFill>
                <a:latin typeface="Cooper Hewitt"/>
                <a:ea typeface="Cooper Hewitt"/>
                <a:cs typeface="Cooper Hewitt"/>
                <a:sym typeface="Cooper Hewitt"/>
              </a:rPr>
              <a:t>Limitation: Requires manual activation; no continuous monitoring.</a:t>
            </a:r>
          </a:p>
        </p:txBody>
      </p:sp>
      <p:sp>
        <p:nvSpPr>
          <p:cNvPr id="8" name="Freeform 4">
            <a:extLst>
              <a:ext uri="{FF2B5EF4-FFF2-40B4-BE49-F238E27FC236}">
                <a16:creationId xmlns:a16="http://schemas.microsoft.com/office/drawing/2014/main" id="{4B7E8F4A-C526-2919-D6E5-47CB4949BF1E}"/>
              </a:ext>
            </a:extLst>
          </p:cNvPr>
          <p:cNvSpPr/>
          <p:nvPr/>
        </p:nvSpPr>
        <p:spPr>
          <a:xfrm>
            <a:off x="2076000" y="1069451"/>
            <a:ext cx="1172098" cy="975772"/>
          </a:xfrm>
          <a:custGeom>
            <a:avLst/>
            <a:gdLst/>
            <a:ahLst/>
            <a:cxnLst/>
            <a:rect l="l" t="t" r="r" b="b"/>
            <a:pathLst>
              <a:path w="1172098" h="975772">
                <a:moveTo>
                  <a:pt x="0" y="0"/>
                </a:moveTo>
                <a:lnTo>
                  <a:pt x="1172098" y="0"/>
                </a:lnTo>
                <a:lnTo>
                  <a:pt x="1172098" y="975771"/>
                </a:lnTo>
                <a:lnTo>
                  <a:pt x="0" y="97577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71C7901B-7A48-981F-0EBB-68CF4EDB6FC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DEE2FC2-5E60-13E9-EFB8-1482037EC57E}"/>
              </a:ext>
            </a:extLst>
          </p:cNvPr>
          <p:cNvSpPr/>
          <p:nvPr/>
        </p:nvSpPr>
        <p:spPr>
          <a:xfrm flipH="1" flipV="1">
            <a:off x="0" y="8628726"/>
            <a:ext cx="18288000" cy="1656400"/>
          </a:xfrm>
          <a:custGeom>
            <a:avLst/>
            <a:gdLst/>
            <a:ahLst/>
            <a:cxnLst/>
            <a:rect l="l" t="t" r="r" b="b"/>
            <a:pathLst>
              <a:path w="23426234" h="1656400">
                <a:moveTo>
                  <a:pt x="23426234" y="1656401"/>
                </a:moveTo>
                <a:lnTo>
                  <a:pt x="0" y="1656401"/>
                </a:lnTo>
                <a:lnTo>
                  <a:pt x="0" y="0"/>
                </a:lnTo>
                <a:lnTo>
                  <a:pt x="23426234" y="0"/>
                </a:lnTo>
                <a:lnTo>
                  <a:pt x="23426234" y="1656401"/>
                </a:lnTo>
                <a:close/>
              </a:path>
            </a:pathLst>
          </a:custGeom>
          <a:blipFill>
            <a:blip>
              <a:extLst>
                <a:ext uri="{96DAC541-7B7A-43D3-8B79-37D633B846F1}">
                  <asvg:svgBlip xmlns:asvg="http://schemas.microsoft.com/office/drawing/2016/SVG/main" r:embed="rId2"/>
                </a:ext>
              </a:extLst>
            </a:blip>
            <a:stretch>
              <a:fillRect/>
            </a:stretch>
          </a:blipFill>
        </p:spPr>
      </p:sp>
      <p:sp>
        <p:nvSpPr>
          <p:cNvPr id="3" name="TextBox 3">
            <a:extLst>
              <a:ext uri="{FF2B5EF4-FFF2-40B4-BE49-F238E27FC236}">
                <a16:creationId xmlns:a16="http://schemas.microsoft.com/office/drawing/2014/main" id="{6518AA39-DF20-FB21-C356-DEFF4DE0A9B3}"/>
              </a:ext>
            </a:extLst>
          </p:cNvPr>
          <p:cNvSpPr txBox="1"/>
          <p:nvPr/>
        </p:nvSpPr>
        <p:spPr>
          <a:xfrm>
            <a:off x="1028700" y="1580096"/>
            <a:ext cx="7740948" cy="6549131"/>
          </a:xfrm>
          <a:prstGeom prst="rect">
            <a:avLst/>
          </a:prstGeom>
        </p:spPr>
        <p:txBody>
          <a:bodyPr lIns="0" tIns="0" rIns="0" bIns="0" rtlCol="0" anchor="t">
            <a:spAutoFit/>
          </a:bodyPr>
          <a:lstStyle/>
          <a:p>
            <a:pPr algn="just">
              <a:lnSpc>
                <a:spcPts val="4900"/>
              </a:lnSpc>
            </a:pPr>
            <a:r>
              <a:rPr lang="en-US" sz="3500">
                <a:solidFill>
                  <a:srgbClr val="FAFDFD"/>
                </a:solidFill>
                <a:latin typeface="Canva Sans"/>
                <a:ea typeface="Canva Sans"/>
                <a:cs typeface="Canva Sans"/>
                <a:sym typeface="Canva Sans"/>
              </a:rPr>
              <a:t>📱</a:t>
            </a:r>
            <a:r>
              <a:rPr lang="en-US" sz="3500" b="1">
                <a:solidFill>
                  <a:srgbClr val="FAFDFD"/>
                </a:solidFill>
                <a:latin typeface="Canva Sans Bold"/>
                <a:ea typeface="Canva Sans Bold"/>
                <a:cs typeface="Canva Sans Bold"/>
                <a:sym typeface="Canva Sans Bold"/>
              </a:rPr>
              <a:t> bSafe</a:t>
            </a:r>
          </a:p>
          <a:p>
            <a:pPr algn="just">
              <a:lnSpc>
                <a:spcPts val="3948"/>
              </a:lnSpc>
            </a:pPr>
            <a:endParaRPr lang="en-US" sz="3500" b="1">
              <a:solidFill>
                <a:srgbClr val="FAFDFD"/>
              </a:solidFill>
              <a:latin typeface="Canva Sans Bold"/>
              <a:ea typeface="Canva Sans Bold"/>
              <a:cs typeface="Canva Sans Bold"/>
              <a:sym typeface="Canva Sans Bold"/>
            </a:endParaRPr>
          </a:p>
          <a:p>
            <a:pPr algn="just">
              <a:lnSpc>
                <a:spcPts val="3948"/>
              </a:lnSpc>
            </a:pPr>
            <a:r>
              <a:rPr lang="en-US" sz="2820">
                <a:solidFill>
                  <a:srgbClr val="FAFDFD"/>
                </a:solidFill>
                <a:latin typeface="Canva Sans"/>
                <a:ea typeface="Canva Sans"/>
                <a:cs typeface="Canva Sans"/>
                <a:sym typeface="Canva Sans"/>
              </a:rPr>
              <a:t>What it does:</a:t>
            </a:r>
          </a:p>
          <a:p>
            <a:pPr algn="just">
              <a:lnSpc>
                <a:spcPts val="3948"/>
              </a:lnSpc>
            </a:pPr>
            <a:r>
              <a:rPr lang="en-US" sz="2820">
                <a:solidFill>
                  <a:srgbClr val="FAFDFD"/>
                </a:solidFill>
                <a:latin typeface="Canva Sans"/>
                <a:ea typeface="Canva Sans"/>
                <a:cs typeface="Canva Sans"/>
                <a:sym typeface="Canva Sans"/>
              </a:rPr>
              <a:t>✔ SOS panic button sends distress alerts with real-time location to contacts.</a:t>
            </a:r>
          </a:p>
          <a:p>
            <a:pPr algn="just">
              <a:lnSpc>
                <a:spcPts val="3948"/>
              </a:lnSpc>
            </a:pPr>
            <a:r>
              <a:rPr lang="en-US" sz="2820">
                <a:solidFill>
                  <a:srgbClr val="FAFDFD"/>
                </a:solidFill>
                <a:latin typeface="Canva Sans"/>
                <a:ea typeface="Canva Sans"/>
                <a:cs typeface="Canva Sans"/>
                <a:sym typeface="Canva Sans"/>
              </a:rPr>
              <a:t>✔ Optional live video/audio recording.</a:t>
            </a:r>
          </a:p>
          <a:p>
            <a:pPr algn="just">
              <a:lnSpc>
                <a:spcPts val="3948"/>
              </a:lnSpc>
            </a:pPr>
            <a:r>
              <a:rPr lang="en-US" sz="2820">
                <a:solidFill>
                  <a:srgbClr val="FAFDFD"/>
                </a:solidFill>
                <a:latin typeface="Canva Sans"/>
                <a:ea typeface="Canva Sans"/>
                <a:cs typeface="Canva Sans"/>
                <a:sym typeface="Canva Sans"/>
              </a:rPr>
              <a:t>✔ “Follow Me” live GPS trace.</a:t>
            </a:r>
          </a:p>
          <a:p>
            <a:pPr algn="just">
              <a:lnSpc>
                <a:spcPts val="3948"/>
              </a:lnSpc>
            </a:pPr>
            <a:endParaRPr lang="en-US" sz="2820">
              <a:solidFill>
                <a:srgbClr val="FAFDFD"/>
              </a:solidFill>
              <a:latin typeface="Canva Sans"/>
              <a:ea typeface="Canva Sans"/>
              <a:cs typeface="Canva Sans"/>
              <a:sym typeface="Canva Sans"/>
            </a:endParaRPr>
          </a:p>
          <a:p>
            <a:pPr algn="just">
              <a:lnSpc>
                <a:spcPts val="3948"/>
              </a:lnSpc>
            </a:pPr>
            <a:r>
              <a:rPr lang="en-US" sz="2820">
                <a:solidFill>
                  <a:srgbClr val="FAFDFD"/>
                </a:solidFill>
                <a:latin typeface="Canva Sans"/>
                <a:ea typeface="Canva Sans"/>
                <a:cs typeface="Canva Sans"/>
                <a:sym typeface="Canva Sans"/>
              </a:rPr>
              <a:t>Limitations:</a:t>
            </a:r>
          </a:p>
          <a:p>
            <a:pPr algn="just">
              <a:lnSpc>
                <a:spcPts val="3948"/>
              </a:lnSpc>
            </a:pPr>
            <a:r>
              <a:rPr lang="en-US" sz="2820">
                <a:solidFill>
                  <a:srgbClr val="FAFDFD"/>
                </a:solidFill>
                <a:latin typeface="Canva Sans"/>
                <a:ea typeface="Canva Sans"/>
                <a:cs typeface="Canva Sans"/>
                <a:sym typeface="Canva Sans"/>
              </a:rPr>
              <a:t>❌ Requires manual panic activation.</a:t>
            </a:r>
          </a:p>
          <a:p>
            <a:pPr algn="just">
              <a:lnSpc>
                <a:spcPts val="3948"/>
              </a:lnSpc>
            </a:pPr>
            <a:r>
              <a:rPr lang="en-US" sz="2820">
                <a:solidFill>
                  <a:srgbClr val="FAFDFD"/>
                </a:solidFill>
                <a:latin typeface="Canva Sans"/>
                <a:ea typeface="Canva Sans"/>
                <a:cs typeface="Canva Sans"/>
                <a:sym typeface="Canva Sans"/>
              </a:rPr>
              <a:t>❌ No proactive risk analysis.</a:t>
            </a:r>
          </a:p>
          <a:p>
            <a:pPr algn="just">
              <a:lnSpc>
                <a:spcPts val="3948"/>
              </a:lnSpc>
            </a:pPr>
            <a:r>
              <a:rPr lang="en-US" sz="2820">
                <a:solidFill>
                  <a:srgbClr val="FAFDFD"/>
                </a:solidFill>
                <a:latin typeface="Canva Sans"/>
                <a:ea typeface="Canva Sans"/>
                <a:cs typeface="Canva Sans"/>
                <a:sym typeface="Canva Sans"/>
              </a:rPr>
              <a:t>❌ No continuous guarding or voice interaction.</a:t>
            </a:r>
          </a:p>
        </p:txBody>
      </p:sp>
      <p:sp>
        <p:nvSpPr>
          <p:cNvPr id="4" name="TextBox 4">
            <a:extLst>
              <a:ext uri="{FF2B5EF4-FFF2-40B4-BE49-F238E27FC236}">
                <a16:creationId xmlns:a16="http://schemas.microsoft.com/office/drawing/2014/main" id="{C60DEB27-50C1-7FA3-D9B3-E7F0C7E3CF78}"/>
              </a:ext>
            </a:extLst>
          </p:cNvPr>
          <p:cNvSpPr txBox="1"/>
          <p:nvPr/>
        </p:nvSpPr>
        <p:spPr>
          <a:xfrm>
            <a:off x="9518352" y="1456271"/>
            <a:ext cx="7740948" cy="6672956"/>
          </a:xfrm>
          <a:prstGeom prst="rect">
            <a:avLst/>
          </a:prstGeom>
        </p:spPr>
        <p:txBody>
          <a:bodyPr lIns="0" tIns="0" rIns="0" bIns="0" rtlCol="0" anchor="t">
            <a:spAutoFit/>
          </a:bodyPr>
          <a:lstStyle/>
          <a:p>
            <a:pPr algn="just">
              <a:lnSpc>
                <a:spcPts val="4900"/>
              </a:lnSpc>
            </a:pPr>
            <a:r>
              <a:rPr lang="en-US" sz="3500">
                <a:solidFill>
                  <a:srgbClr val="FAFDFD"/>
                </a:solidFill>
                <a:latin typeface="Canva Sans"/>
                <a:ea typeface="Canva Sans"/>
                <a:cs typeface="Canva Sans"/>
                <a:sym typeface="Canva Sans"/>
              </a:rPr>
              <a:t>📱 </a:t>
            </a:r>
            <a:r>
              <a:rPr lang="en-US" sz="3500" b="1">
                <a:solidFill>
                  <a:srgbClr val="FAFDFD"/>
                </a:solidFill>
                <a:latin typeface="Canva Sans Bold"/>
                <a:ea typeface="Canva Sans Bold"/>
                <a:cs typeface="Canva Sans Bold"/>
                <a:sym typeface="Canva Sans Bold"/>
              </a:rPr>
              <a:t>My Safetipin / WanderSafe / MySIS (Route/area safety apps)</a:t>
            </a:r>
          </a:p>
          <a:p>
            <a:pPr algn="just">
              <a:lnSpc>
                <a:spcPts val="3948"/>
              </a:lnSpc>
            </a:pPr>
            <a:endParaRPr lang="en-US" sz="3500" b="1">
              <a:solidFill>
                <a:srgbClr val="FAFDFD"/>
              </a:solidFill>
              <a:latin typeface="Canva Sans Bold"/>
              <a:ea typeface="Canva Sans Bold"/>
              <a:cs typeface="Canva Sans Bold"/>
              <a:sym typeface="Canva Sans Bold"/>
            </a:endParaRPr>
          </a:p>
          <a:p>
            <a:pPr algn="just">
              <a:lnSpc>
                <a:spcPts val="3948"/>
              </a:lnSpc>
            </a:pPr>
            <a:r>
              <a:rPr lang="en-US" sz="2820">
                <a:solidFill>
                  <a:srgbClr val="FAFDFD"/>
                </a:solidFill>
                <a:latin typeface="Canva Sans"/>
                <a:ea typeface="Canva Sans"/>
                <a:cs typeface="Canva Sans"/>
                <a:sym typeface="Canva Sans"/>
              </a:rPr>
              <a:t>What they do:</a:t>
            </a:r>
          </a:p>
          <a:p>
            <a:pPr algn="just">
              <a:lnSpc>
                <a:spcPts val="3948"/>
              </a:lnSpc>
            </a:pPr>
            <a:r>
              <a:rPr lang="en-US" sz="2820">
                <a:solidFill>
                  <a:srgbClr val="FAFDFD"/>
                </a:solidFill>
                <a:latin typeface="Canva Sans"/>
                <a:ea typeface="Canva Sans"/>
                <a:cs typeface="Canva Sans"/>
                <a:sym typeface="Canva Sans"/>
              </a:rPr>
              <a:t>✔ Provide safety scores of areas/routes based on crowd, lighting, environment.</a:t>
            </a:r>
          </a:p>
          <a:p>
            <a:pPr algn="just">
              <a:lnSpc>
                <a:spcPts val="3948"/>
              </a:lnSpc>
            </a:pPr>
            <a:r>
              <a:rPr lang="en-US" sz="2820">
                <a:solidFill>
                  <a:srgbClr val="FAFDFD"/>
                </a:solidFill>
                <a:latin typeface="Canva Sans"/>
                <a:ea typeface="Canva Sans"/>
                <a:cs typeface="Canva Sans"/>
                <a:sym typeface="Canva Sans"/>
              </a:rPr>
              <a:t>✔ Helps choose safer routes.</a:t>
            </a:r>
          </a:p>
          <a:p>
            <a:pPr algn="just">
              <a:lnSpc>
                <a:spcPts val="3948"/>
              </a:lnSpc>
            </a:pPr>
            <a:endParaRPr lang="en-US" sz="2820">
              <a:solidFill>
                <a:srgbClr val="FAFDFD"/>
              </a:solidFill>
              <a:latin typeface="Canva Sans"/>
              <a:ea typeface="Canva Sans"/>
              <a:cs typeface="Canva Sans"/>
              <a:sym typeface="Canva Sans"/>
            </a:endParaRPr>
          </a:p>
          <a:p>
            <a:pPr algn="just">
              <a:lnSpc>
                <a:spcPts val="3948"/>
              </a:lnSpc>
            </a:pPr>
            <a:r>
              <a:rPr lang="en-US" sz="2820">
                <a:solidFill>
                  <a:srgbClr val="FAFDFD"/>
                </a:solidFill>
                <a:latin typeface="Canva Sans"/>
                <a:ea typeface="Canva Sans"/>
                <a:cs typeface="Canva Sans"/>
                <a:sym typeface="Canva Sans"/>
              </a:rPr>
              <a:t>Limitations:</a:t>
            </a:r>
          </a:p>
          <a:p>
            <a:pPr algn="just">
              <a:lnSpc>
                <a:spcPts val="3948"/>
              </a:lnSpc>
            </a:pPr>
            <a:r>
              <a:rPr lang="en-US" sz="2820">
                <a:solidFill>
                  <a:srgbClr val="FAFDFD"/>
                </a:solidFill>
                <a:latin typeface="Canva Sans"/>
                <a:ea typeface="Canva Sans"/>
                <a:cs typeface="Canva Sans"/>
                <a:sym typeface="Canva Sans"/>
              </a:rPr>
              <a:t>❌ Not an automatic travel guardian.</a:t>
            </a:r>
          </a:p>
          <a:p>
            <a:pPr algn="just">
              <a:lnSpc>
                <a:spcPts val="3948"/>
              </a:lnSpc>
            </a:pPr>
            <a:r>
              <a:rPr lang="en-US" sz="2820">
                <a:solidFill>
                  <a:srgbClr val="FAFDFD"/>
                </a:solidFill>
                <a:latin typeface="Canva Sans"/>
                <a:ea typeface="Canva Sans"/>
                <a:cs typeface="Canva Sans"/>
                <a:sym typeface="Canva Sans"/>
              </a:rPr>
              <a:t>❌ Not voice interactive.</a:t>
            </a:r>
          </a:p>
          <a:p>
            <a:pPr algn="just">
              <a:lnSpc>
                <a:spcPts val="3948"/>
              </a:lnSpc>
            </a:pPr>
            <a:r>
              <a:rPr lang="en-US" sz="2820">
                <a:solidFill>
                  <a:srgbClr val="FAFDFD"/>
                </a:solidFill>
                <a:latin typeface="Canva Sans"/>
                <a:ea typeface="Canva Sans"/>
                <a:cs typeface="Canva Sans"/>
                <a:sym typeface="Canva Sans"/>
              </a:rPr>
              <a:t>❌ Does not guard user during travel in real time.</a:t>
            </a:r>
          </a:p>
        </p:txBody>
      </p:sp>
    </p:spTree>
    <p:extLst>
      <p:ext uri="{BB962C8B-B14F-4D97-AF65-F5344CB8AC3E}">
        <p14:creationId xmlns:p14="http://schemas.microsoft.com/office/powerpoint/2010/main" val="6968819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a:extLst>
            <a:ext uri="{FF2B5EF4-FFF2-40B4-BE49-F238E27FC236}">
              <a16:creationId xmlns:a16="http://schemas.microsoft.com/office/drawing/2014/main" id="{DA80FD1E-F2F6-63B9-9F25-97C88FE3C87E}"/>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A9D2D6F2-0EA9-0869-2156-BB07F0B1EAC0}"/>
              </a:ext>
            </a:extLst>
          </p:cNvPr>
          <p:cNvSpPr txBox="1"/>
          <p:nvPr/>
        </p:nvSpPr>
        <p:spPr>
          <a:xfrm>
            <a:off x="1028700" y="1580096"/>
            <a:ext cx="7740948" cy="564642"/>
          </a:xfrm>
          <a:prstGeom prst="rect">
            <a:avLst/>
          </a:prstGeom>
        </p:spPr>
        <p:txBody>
          <a:bodyPr lIns="0" tIns="0" rIns="0" bIns="0" rtlCol="0" anchor="t">
            <a:spAutoFit/>
          </a:bodyPr>
          <a:lstStyle/>
          <a:p>
            <a:pPr algn="just">
              <a:lnSpc>
                <a:spcPts val="4900"/>
              </a:lnSpc>
            </a:pPr>
            <a:endParaRPr lang="en-US" sz="2820" dirty="0">
              <a:solidFill>
                <a:srgbClr val="FAFDFD"/>
              </a:solidFill>
              <a:latin typeface="Canva Sans"/>
              <a:ea typeface="Canva Sans"/>
              <a:cs typeface="Canva Sans"/>
              <a:sym typeface="Canva Sans"/>
            </a:endParaRPr>
          </a:p>
        </p:txBody>
      </p:sp>
      <p:sp>
        <p:nvSpPr>
          <p:cNvPr id="4" name="TextBox 4">
            <a:extLst>
              <a:ext uri="{FF2B5EF4-FFF2-40B4-BE49-F238E27FC236}">
                <a16:creationId xmlns:a16="http://schemas.microsoft.com/office/drawing/2014/main" id="{81EC2C5D-E61D-A967-729E-A6F4A43F330B}"/>
              </a:ext>
            </a:extLst>
          </p:cNvPr>
          <p:cNvSpPr txBox="1"/>
          <p:nvPr/>
        </p:nvSpPr>
        <p:spPr>
          <a:xfrm>
            <a:off x="1028700" y="800100"/>
            <a:ext cx="7740948" cy="564642"/>
          </a:xfrm>
          <a:prstGeom prst="rect">
            <a:avLst/>
          </a:prstGeom>
        </p:spPr>
        <p:txBody>
          <a:bodyPr lIns="0" tIns="0" rIns="0" bIns="0" rtlCol="0" anchor="t">
            <a:spAutoFit/>
          </a:bodyPr>
          <a:lstStyle/>
          <a:p>
            <a:pPr algn="just">
              <a:lnSpc>
                <a:spcPts val="4900"/>
              </a:lnSpc>
            </a:pPr>
            <a:r>
              <a:rPr lang="en-US" sz="2820" dirty="0">
                <a:solidFill>
                  <a:srgbClr val="FAFDFD"/>
                </a:solidFill>
                <a:latin typeface="Canva Sans"/>
                <a:ea typeface="Canva Sans"/>
                <a:cs typeface="Canva Sans"/>
                <a:sym typeface="Canva Sans"/>
              </a:rPr>
              <a:t>SURVEY REPORT:</a:t>
            </a:r>
          </a:p>
        </p:txBody>
      </p:sp>
      <p:pic>
        <p:nvPicPr>
          <p:cNvPr id="6" name="Picture 5">
            <a:extLst>
              <a:ext uri="{FF2B5EF4-FFF2-40B4-BE49-F238E27FC236}">
                <a16:creationId xmlns:a16="http://schemas.microsoft.com/office/drawing/2014/main" id="{7EE943B8-C4E9-528D-84B0-02E76308BA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9203" y="1714500"/>
            <a:ext cx="5477797" cy="7543800"/>
          </a:xfrm>
          <a:prstGeom prst="rect">
            <a:avLst/>
          </a:prstGeom>
        </p:spPr>
      </p:pic>
      <p:pic>
        <p:nvPicPr>
          <p:cNvPr id="8" name="Picture 7">
            <a:extLst>
              <a:ext uri="{FF2B5EF4-FFF2-40B4-BE49-F238E27FC236}">
                <a16:creationId xmlns:a16="http://schemas.microsoft.com/office/drawing/2014/main" id="{4D8FC610-F2FE-9A82-55BF-0A620C0941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62800" y="1714500"/>
            <a:ext cx="4495800" cy="7543800"/>
          </a:xfrm>
          <a:prstGeom prst="rect">
            <a:avLst/>
          </a:prstGeom>
        </p:spPr>
      </p:pic>
      <p:pic>
        <p:nvPicPr>
          <p:cNvPr id="10" name="Picture 9">
            <a:extLst>
              <a:ext uri="{FF2B5EF4-FFF2-40B4-BE49-F238E27FC236}">
                <a16:creationId xmlns:a16="http://schemas.microsoft.com/office/drawing/2014/main" id="{4A08F0C5-5424-B862-D113-3AA8D2D28FB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344400" y="1714500"/>
            <a:ext cx="5085034" cy="7543800"/>
          </a:xfrm>
          <a:prstGeom prst="rect">
            <a:avLst/>
          </a:prstGeom>
        </p:spPr>
      </p:pic>
    </p:spTree>
    <p:extLst>
      <p:ext uri="{BB962C8B-B14F-4D97-AF65-F5344CB8AC3E}">
        <p14:creationId xmlns:p14="http://schemas.microsoft.com/office/powerpoint/2010/main" val="19250528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a:extLst>
            <a:ext uri="{FF2B5EF4-FFF2-40B4-BE49-F238E27FC236}">
              <a16:creationId xmlns:a16="http://schemas.microsoft.com/office/drawing/2014/main" id="{2B31A55B-CD13-7E99-C2FC-CFEF4ADDBC0F}"/>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7D5ED5E8-0228-E404-7401-E6BEB833DEE1}"/>
              </a:ext>
            </a:extLst>
          </p:cNvPr>
          <p:cNvSpPr txBox="1"/>
          <p:nvPr/>
        </p:nvSpPr>
        <p:spPr>
          <a:xfrm>
            <a:off x="1028700" y="1580096"/>
            <a:ext cx="7740948" cy="564642"/>
          </a:xfrm>
          <a:prstGeom prst="rect">
            <a:avLst/>
          </a:prstGeom>
        </p:spPr>
        <p:txBody>
          <a:bodyPr lIns="0" tIns="0" rIns="0" bIns="0" rtlCol="0" anchor="t">
            <a:spAutoFit/>
          </a:bodyPr>
          <a:lstStyle/>
          <a:p>
            <a:pPr algn="just">
              <a:lnSpc>
                <a:spcPts val="4900"/>
              </a:lnSpc>
            </a:pPr>
            <a:endParaRPr lang="en-US" sz="2820" dirty="0">
              <a:solidFill>
                <a:srgbClr val="FAFDFD"/>
              </a:solidFill>
              <a:latin typeface="Canva Sans"/>
              <a:ea typeface="Canva Sans"/>
              <a:cs typeface="Canva Sans"/>
              <a:sym typeface="Canva Sans"/>
            </a:endParaRPr>
          </a:p>
        </p:txBody>
      </p:sp>
      <p:sp>
        <p:nvSpPr>
          <p:cNvPr id="4" name="TextBox 4">
            <a:extLst>
              <a:ext uri="{FF2B5EF4-FFF2-40B4-BE49-F238E27FC236}">
                <a16:creationId xmlns:a16="http://schemas.microsoft.com/office/drawing/2014/main" id="{1615E961-24EC-00E5-7948-E32F38364C1B}"/>
              </a:ext>
            </a:extLst>
          </p:cNvPr>
          <p:cNvSpPr txBox="1"/>
          <p:nvPr/>
        </p:nvSpPr>
        <p:spPr>
          <a:xfrm>
            <a:off x="1028700" y="800100"/>
            <a:ext cx="7740948" cy="564642"/>
          </a:xfrm>
          <a:prstGeom prst="rect">
            <a:avLst/>
          </a:prstGeom>
        </p:spPr>
        <p:txBody>
          <a:bodyPr lIns="0" tIns="0" rIns="0" bIns="0" rtlCol="0" anchor="t">
            <a:spAutoFit/>
          </a:bodyPr>
          <a:lstStyle/>
          <a:p>
            <a:pPr algn="just">
              <a:lnSpc>
                <a:spcPts val="4900"/>
              </a:lnSpc>
            </a:pPr>
            <a:r>
              <a:rPr lang="en-US" sz="2820" dirty="0">
                <a:solidFill>
                  <a:srgbClr val="FAFDFD"/>
                </a:solidFill>
                <a:latin typeface="Canva Sans"/>
                <a:ea typeface="Canva Sans"/>
                <a:cs typeface="Canva Sans"/>
                <a:sym typeface="Canva Sans"/>
              </a:rPr>
              <a:t>SURVEY REPORT:</a:t>
            </a:r>
          </a:p>
        </p:txBody>
      </p:sp>
      <p:pic>
        <p:nvPicPr>
          <p:cNvPr id="12" name="Picture 11">
            <a:extLst>
              <a:ext uri="{FF2B5EF4-FFF2-40B4-BE49-F238E27FC236}">
                <a16:creationId xmlns:a16="http://schemas.microsoft.com/office/drawing/2014/main" id="{70B470C4-316E-15CA-F961-E9AD7EEACC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700" y="1907891"/>
            <a:ext cx="5351334" cy="7045609"/>
          </a:xfrm>
          <a:prstGeom prst="rect">
            <a:avLst/>
          </a:prstGeom>
        </p:spPr>
      </p:pic>
      <p:pic>
        <p:nvPicPr>
          <p:cNvPr id="14" name="Picture 13">
            <a:extLst>
              <a:ext uri="{FF2B5EF4-FFF2-40B4-BE49-F238E27FC236}">
                <a16:creationId xmlns:a16="http://schemas.microsoft.com/office/drawing/2014/main" id="{F5F3CD15-4ACC-7E30-100C-3EFAD99A0A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39000" y="1884539"/>
            <a:ext cx="4876800" cy="7045609"/>
          </a:xfrm>
          <a:prstGeom prst="rect">
            <a:avLst/>
          </a:prstGeom>
        </p:spPr>
      </p:pic>
      <p:pic>
        <p:nvPicPr>
          <p:cNvPr id="5" name="Picture 4">
            <a:extLst>
              <a:ext uri="{FF2B5EF4-FFF2-40B4-BE49-F238E27FC236}">
                <a16:creationId xmlns:a16="http://schemas.microsoft.com/office/drawing/2014/main" id="{727C7DC0-8085-6842-3A00-BEF8E18DA11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751098" y="1862417"/>
            <a:ext cx="4457700" cy="7067731"/>
          </a:xfrm>
          <a:prstGeom prst="rect">
            <a:avLst/>
          </a:prstGeom>
        </p:spPr>
      </p:pic>
    </p:spTree>
    <p:extLst>
      <p:ext uri="{BB962C8B-B14F-4D97-AF65-F5344CB8AC3E}">
        <p14:creationId xmlns:p14="http://schemas.microsoft.com/office/powerpoint/2010/main" val="3183789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a:extLst>
            <a:ext uri="{FF2B5EF4-FFF2-40B4-BE49-F238E27FC236}">
              <a16:creationId xmlns:a16="http://schemas.microsoft.com/office/drawing/2014/main" id="{677E24C2-D210-AAA4-4BFE-9D6BF11C02E8}"/>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50067752-6C33-BF96-47B9-B58B8553F8B3}"/>
              </a:ext>
            </a:extLst>
          </p:cNvPr>
          <p:cNvSpPr txBox="1"/>
          <p:nvPr/>
        </p:nvSpPr>
        <p:spPr>
          <a:xfrm>
            <a:off x="1028700" y="1580096"/>
            <a:ext cx="7740948" cy="564642"/>
          </a:xfrm>
          <a:prstGeom prst="rect">
            <a:avLst/>
          </a:prstGeom>
        </p:spPr>
        <p:txBody>
          <a:bodyPr lIns="0" tIns="0" rIns="0" bIns="0" rtlCol="0" anchor="t">
            <a:spAutoFit/>
          </a:bodyPr>
          <a:lstStyle/>
          <a:p>
            <a:pPr algn="just">
              <a:lnSpc>
                <a:spcPts val="4900"/>
              </a:lnSpc>
            </a:pPr>
            <a:endParaRPr lang="en-US" sz="2820" dirty="0">
              <a:solidFill>
                <a:srgbClr val="FAFDFD"/>
              </a:solidFill>
              <a:latin typeface="Canva Sans"/>
              <a:ea typeface="Canva Sans"/>
              <a:cs typeface="Canva Sans"/>
              <a:sym typeface="Canva Sans"/>
            </a:endParaRPr>
          </a:p>
        </p:txBody>
      </p:sp>
      <p:sp>
        <p:nvSpPr>
          <p:cNvPr id="4" name="TextBox 4">
            <a:extLst>
              <a:ext uri="{FF2B5EF4-FFF2-40B4-BE49-F238E27FC236}">
                <a16:creationId xmlns:a16="http://schemas.microsoft.com/office/drawing/2014/main" id="{9361EC86-E48F-7968-A2A7-0A2D5B7AADA4}"/>
              </a:ext>
            </a:extLst>
          </p:cNvPr>
          <p:cNvSpPr txBox="1"/>
          <p:nvPr/>
        </p:nvSpPr>
        <p:spPr>
          <a:xfrm>
            <a:off x="1028700" y="800100"/>
            <a:ext cx="7740948" cy="564642"/>
          </a:xfrm>
          <a:prstGeom prst="rect">
            <a:avLst/>
          </a:prstGeom>
        </p:spPr>
        <p:txBody>
          <a:bodyPr lIns="0" tIns="0" rIns="0" bIns="0" rtlCol="0" anchor="t">
            <a:spAutoFit/>
          </a:bodyPr>
          <a:lstStyle/>
          <a:p>
            <a:pPr algn="just">
              <a:lnSpc>
                <a:spcPts val="4900"/>
              </a:lnSpc>
            </a:pPr>
            <a:r>
              <a:rPr lang="en-US" sz="2820" dirty="0">
                <a:solidFill>
                  <a:srgbClr val="FAFDFD"/>
                </a:solidFill>
                <a:latin typeface="Canva Sans"/>
                <a:ea typeface="Canva Sans"/>
                <a:cs typeface="Canva Sans"/>
                <a:sym typeface="Canva Sans"/>
              </a:rPr>
              <a:t>SURVEY REPORT:</a:t>
            </a:r>
          </a:p>
        </p:txBody>
      </p:sp>
      <p:pic>
        <p:nvPicPr>
          <p:cNvPr id="16" name="Picture 15">
            <a:extLst>
              <a:ext uri="{FF2B5EF4-FFF2-40B4-BE49-F238E27FC236}">
                <a16:creationId xmlns:a16="http://schemas.microsoft.com/office/drawing/2014/main" id="{C9210A5B-16F6-C04B-EA9F-E769798633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7211" y="1684049"/>
            <a:ext cx="5160190" cy="7126806"/>
          </a:xfrm>
          <a:prstGeom prst="rect">
            <a:avLst/>
          </a:prstGeom>
        </p:spPr>
      </p:pic>
      <p:pic>
        <p:nvPicPr>
          <p:cNvPr id="18" name="Picture 17">
            <a:extLst>
              <a:ext uri="{FF2B5EF4-FFF2-40B4-BE49-F238E27FC236}">
                <a16:creationId xmlns:a16="http://schemas.microsoft.com/office/drawing/2014/main" id="{97FF51B7-B40C-CD21-5315-5F71AFB176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420600" y="1684048"/>
            <a:ext cx="5562600" cy="7126807"/>
          </a:xfrm>
          <a:prstGeom prst="rect">
            <a:avLst/>
          </a:prstGeom>
        </p:spPr>
      </p:pic>
      <p:pic>
        <p:nvPicPr>
          <p:cNvPr id="20" name="Picture 19">
            <a:extLst>
              <a:ext uri="{FF2B5EF4-FFF2-40B4-BE49-F238E27FC236}">
                <a16:creationId xmlns:a16="http://schemas.microsoft.com/office/drawing/2014/main" id="{BEA1196C-A385-59CA-20AD-E007A12B69D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47883" y="5176684"/>
            <a:ext cx="5851227" cy="3634171"/>
          </a:xfrm>
          <a:prstGeom prst="rect">
            <a:avLst/>
          </a:prstGeom>
        </p:spPr>
      </p:pic>
      <p:pic>
        <p:nvPicPr>
          <p:cNvPr id="2" name="Picture 1">
            <a:extLst>
              <a:ext uri="{FF2B5EF4-FFF2-40B4-BE49-F238E27FC236}">
                <a16:creationId xmlns:a16="http://schemas.microsoft.com/office/drawing/2014/main" id="{6E94A66C-2DD4-0287-5214-570D37E228D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47883" y="1652609"/>
            <a:ext cx="5851227" cy="3567092"/>
          </a:xfrm>
          <a:prstGeom prst="rect">
            <a:avLst/>
          </a:prstGeom>
        </p:spPr>
      </p:pic>
    </p:spTree>
    <p:extLst>
      <p:ext uri="{BB962C8B-B14F-4D97-AF65-F5344CB8AC3E}">
        <p14:creationId xmlns:p14="http://schemas.microsoft.com/office/powerpoint/2010/main" val="41272328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1426368" y="854097"/>
            <a:ext cx="1172098" cy="975772"/>
          </a:xfrm>
          <a:custGeom>
            <a:avLst/>
            <a:gdLst/>
            <a:ahLst/>
            <a:cxnLst/>
            <a:rect l="l" t="t" r="r" b="b"/>
            <a:pathLst>
              <a:path w="1172098" h="975772">
                <a:moveTo>
                  <a:pt x="0" y="0"/>
                </a:moveTo>
                <a:lnTo>
                  <a:pt x="1172098" y="0"/>
                </a:lnTo>
                <a:lnTo>
                  <a:pt x="1172098" y="975772"/>
                </a:lnTo>
                <a:lnTo>
                  <a:pt x="0" y="97577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16087202" y="697456"/>
            <a:ext cx="1172098" cy="975772"/>
          </a:xfrm>
          <a:custGeom>
            <a:avLst/>
            <a:gdLst/>
            <a:ahLst/>
            <a:cxnLst/>
            <a:rect l="l" t="t" r="r" b="b"/>
            <a:pathLst>
              <a:path w="1172098" h="975772">
                <a:moveTo>
                  <a:pt x="0" y="0"/>
                </a:moveTo>
                <a:lnTo>
                  <a:pt x="1172098" y="0"/>
                </a:lnTo>
                <a:lnTo>
                  <a:pt x="1172098" y="975771"/>
                </a:lnTo>
                <a:lnTo>
                  <a:pt x="0" y="97577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511492" y="2167081"/>
            <a:ext cx="17265016" cy="8119919"/>
          </a:xfrm>
          <a:custGeom>
            <a:avLst/>
            <a:gdLst/>
            <a:ahLst/>
            <a:cxnLst/>
            <a:rect l="l" t="t" r="r" b="b"/>
            <a:pathLst>
              <a:path w="17265016" h="8308789">
                <a:moveTo>
                  <a:pt x="0" y="0"/>
                </a:moveTo>
                <a:lnTo>
                  <a:pt x="17265016" y="0"/>
                </a:lnTo>
                <a:lnTo>
                  <a:pt x="17265016" y="8308789"/>
                </a:lnTo>
                <a:lnTo>
                  <a:pt x="0" y="8308789"/>
                </a:lnTo>
                <a:lnTo>
                  <a:pt x="0" y="0"/>
                </a:lnTo>
                <a:close/>
              </a:path>
            </a:pathLst>
          </a:custGeom>
          <a:blipFill>
            <a:blip r:embed="rId4"/>
            <a:stretch>
              <a:fillRect/>
            </a:stretch>
          </a:blipFill>
        </p:spPr>
      </p:sp>
      <p:sp>
        <p:nvSpPr>
          <p:cNvPr id="5" name="TextBox 5"/>
          <p:cNvSpPr txBox="1"/>
          <p:nvPr/>
        </p:nvSpPr>
        <p:spPr>
          <a:xfrm>
            <a:off x="3062571" y="607489"/>
            <a:ext cx="12958624" cy="1222379"/>
          </a:xfrm>
          <a:prstGeom prst="rect">
            <a:avLst/>
          </a:prstGeom>
        </p:spPr>
        <p:txBody>
          <a:bodyPr lIns="0" tIns="0" rIns="0" bIns="0" rtlCol="0" anchor="t">
            <a:spAutoFit/>
          </a:bodyPr>
          <a:lstStyle/>
          <a:p>
            <a:pPr algn="ctr">
              <a:lnSpc>
                <a:spcPts val="9350"/>
              </a:lnSpc>
            </a:pPr>
            <a:r>
              <a:rPr lang="en-US" sz="8500">
                <a:solidFill>
                  <a:srgbClr val="FAFDFD"/>
                </a:solidFill>
                <a:latin typeface="Alice"/>
                <a:ea typeface="Alice"/>
                <a:cs typeface="Alice"/>
                <a:sym typeface="Alice"/>
              </a:rPr>
              <a:t>Why safe route is better?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EC14CB68-F50C-644D-B798-6FC4787AC3A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816A0F1-821E-5DE5-199D-7617AF8C71D4}"/>
              </a:ext>
            </a:extLst>
          </p:cNvPr>
          <p:cNvSpPr/>
          <p:nvPr/>
        </p:nvSpPr>
        <p:spPr>
          <a:xfrm flipV="1">
            <a:off x="0" y="8907550"/>
            <a:ext cx="18288000" cy="1379450"/>
          </a:xfrm>
          <a:custGeom>
            <a:avLst/>
            <a:gdLst/>
            <a:ahLst/>
            <a:cxnLst/>
            <a:rect l="l" t="t" r="r" b="b"/>
            <a:pathLst>
              <a:path w="23426234" h="1656400">
                <a:moveTo>
                  <a:pt x="0" y="1656400"/>
                </a:moveTo>
                <a:lnTo>
                  <a:pt x="23426233" y="1656400"/>
                </a:lnTo>
                <a:lnTo>
                  <a:pt x="23426233" y="0"/>
                </a:lnTo>
                <a:lnTo>
                  <a:pt x="0" y="0"/>
                </a:lnTo>
                <a:lnTo>
                  <a:pt x="0" y="165640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dirty="0"/>
          </a:p>
        </p:txBody>
      </p:sp>
      <p:sp>
        <p:nvSpPr>
          <p:cNvPr id="3" name="TextBox 3">
            <a:extLst>
              <a:ext uri="{FF2B5EF4-FFF2-40B4-BE49-F238E27FC236}">
                <a16:creationId xmlns:a16="http://schemas.microsoft.com/office/drawing/2014/main" id="{FAB776C4-5A7E-4CCD-D82F-AAAD7D883119}"/>
              </a:ext>
            </a:extLst>
          </p:cNvPr>
          <p:cNvSpPr txBox="1"/>
          <p:nvPr/>
        </p:nvSpPr>
        <p:spPr>
          <a:xfrm>
            <a:off x="2664688" y="583351"/>
            <a:ext cx="12958624" cy="2411429"/>
          </a:xfrm>
          <a:prstGeom prst="rect">
            <a:avLst/>
          </a:prstGeom>
        </p:spPr>
        <p:txBody>
          <a:bodyPr lIns="0" tIns="0" rIns="0" bIns="0" rtlCol="0" anchor="t">
            <a:spAutoFit/>
          </a:bodyPr>
          <a:lstStyle/>
          <a:p>
            <a:pPr algn="ctr">
              <a:lnSpc>
                <a:spcPts val="9350"/>
              </a:lnSpc>
            </a:pPr>
            <a:r>
              <a:rPr lang="en-US" sz="7500" b="1" dirty="0">
                <a:solidFill>
                  <a:srgbClr val="FAFDFD"/>
                </a:solidFill>
                <a:latin typeface="Cooper Hewitt Bold"/>
                <a:ea typeface="Cooper Hewitt Bold"/>
                <a:cs typeface="Cooper Hewitt Bold"/>
                <a:sym typeface="Cooper Hewitt Bold"/>
              </a:rPr>
              <a:t>TECHNICAL SKILLS TO</a:t>
            </a:r>
          </a:p>
          <a:p>
            <a:pPr algn="ctr">
              <a:lnSpc>
                <a:spcPts val="9350"/>
              </a:lnSpc>
            </a:pPr>
            <a:r>
              <a:rPr lang="en-US" sz="7500" b="1" dirty="0">
                <a:solidFill>
                  <a:srgbClr val="FAFDFD"/>
                </a:solidFill>
                <a:latin typeface="Cooper Hewitt Bold"/>
                <a:ea typeface="Cooper Hewitt Bold"/>
                <a:cs typeface="Cooper Hewitt Bold"/>
                <a:sym typeface="Cooper Hewitt Bold"/>
              </a:rPr>
              <a:t> BE USED </a:t>
            </a:r>
          </a:p>
        </p:txBody>
      </p:sp>
      <p:sp>
        <p:nvSpPr>
          <p:cNvPr id="4" name="Freeform 4">
            <a:extLst>
              <a:ext uri="{FF2B5EF4-FFF2-40B4-BE49-F238E27FC236}">
                <a16:creationId xmlns:a16="http://schemas.microsoft.com/office/drawing/2014/main" id="{43DE88D3-8C0E-8463-A617-70F4D995AD3C}"/>
              </a:ext>
            </a:extLst>
          </p:cNvPr>
          <p:cNvSpPr/>
          <p:nvPr/>
        </p:nvSpPr>
        <p:spPr>
          <a:xfrm flipH="1">
            <a:off x="15813812" y="699714"/>
            <a:ext cx="1172098" cy="975772"/>
          </a:xfrm>
          <a:custGeom>
            <a:avLst/>
            <a:gdLst/>
            <a:ahLst/>
            <a:cxnLst/>
            <a:rect l="l" t="t" r="r" b="b"/>
            <a:pathLst>
              <a:path w="1172098" h="975772">
                <a:moveTo>
                  <a:pt x="1172098" y="0"/>
                </a:moveTo>
                <a:lnTo>
                  <a:pt x="0" y="0"/>
                </a:lnTo>
                <a:lnTo>
                  <a:pt x="0" y="975772"/>
                </a:lnTo>
                <a:lnTo>
                  <a:pt x="1172098" y="975772"/>
                </a:lnTo>
                <a:lnTo>
                  <a:pt x="1172098"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a:extLst>
              <a:ext uri="{FF2B5EF4-FFF2-40B4-BE49-F238E27FC236}">
                <a16:creationId xmlns:a16="http://schemas.microsoft.com/office/drawing/2014/main" id="{9399F024-1559-8D8B-27BC-7690F051ED40}"/>
              </a:ext>
            </a:extLst>
          </p:cNvPr>
          <p:cNvSpPr/>
          <p:nvPr/>
        </p:nvSpPr>
        <p:spPr>
          <a:xfrm>
            <a:off x="1306316" y="699714"/>
            <a:ext cx="1172098" cy="975772"/>
          </a:xfrm>
          <a:custGeom>
            <a:avLst/>
            <a:gdLst/>
            <a:ahLst/>
            <a:cxnLst/>
            <a:rect l="l" t="t" r="r" b="b"/>
            <a:pathLst>
              <a:path w="1172098" h="975772">
                <a:moveTo>
                  <a:pt x="0" y="0"/>
                </a:moveTo>
                <a:lnTo>
                  <a:pt x="1172098" y="0"/>
                </a:lnTo>
                <a:lnTo>
                  <a:pt x="1172098" y="975772"/>
                </a:lnTo>
                <a:lnTo>
                  <a:pt x="0" y="975772"/>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TextBox 6">
            <a:extLst>
              <a:ext uri="{FF2B5EF4-FFF2-40B4-BE49-F238E27FC236}">
                <a16:creationId xmlns:a16="http://schemas.microsoft.com/office/drawing/2014/main" id="{94306B2B-BEFF-1768-6EB4-73734EC48FCD}"/>
              </a:ext>
            </a:extLst>
          </p:cNvPr>
          <p:cNvSpPr txBox="1"/>
          <p:nvPr/>
        </p:nvSpPr>
        <p:spPr>
          <a:xfrm>
            <a:off x="1143000" y="2857500"/>
            <a:ext cx="15735300" cy="5806333"/>
          </a:xfrm>
          <a:prstGeom prst="rect">
            <a:avLst/>
          </a:prstGeom>
        </p:spPr>
        <p:txBody>
          <a:bodyPr wrap="square" lIns="0" tIns="0" rIns="0" bIns="0" numCol="1" rtlCol="0" anchor="t">
            <a:spAutoFit/>
          </a:bodyPr>
          <a:lstStyle/>
          <a:p>
            <a:pPr marL="514350" indent="-514350">
              <a:lnSpc>
                <a:spcPct val="150000"/>
              </a:lnSpc>
              <a:spcBef>
                <a:spcPct val="0"/>
              </a:spcBef>
              <a:buAutoNum type="arabicPeriod"/>
            </a:pPr>
            <a:r>
              <a:rPr lang="en-US" sz="2800" b="1" dirty="0">
                <a:solidFill>
                  <a:schemeClr val="tx2">
                    <a:lumMod val="60000"/>
                    <a:lumOff val="40000"/>
                  </a:schemeClr>
                </a:solidFill>
                <a:latin typeface="Telegraf"/>
                <a:ea typeface="Telegraf"/>
                <a:cs typeface="Telegraf"/>
                <a:sym typeface="Telegraf"/>
              </a:rPr>
              <a:t>Python Programming </a:t>
            </a:r>
            <a:r>
              <a:rPr lang="en-US" sz="2800" dirty="0">
                <a:solidFill>
                  <a:srgbClr val="FFFFFF"/>
                </a:solidFill>
                <a:latin typeface="Telegraf"/>
                <a:ea typeface="Telegraf"/>
                <a:cs typeface="Telegraf"/>
                <a:sym typeface="Telegraf"/>
              </a:rPr>
              <a:t>- Main development language - Handles logic, data processing, and system control</a:t>
            </a:r>
          </a:p>
          <a:p>
            <a:pPr marL="514350" indent="-514350">
              <a:lnSpc>
                <a:spcPct val="150000"/>
              </a:lnSpc>
              <a:spcBef>
                <a:spcPct val="0"/>
              </a:spcBef>
              <a:buAutoNum type="arabicPeriod"/>
            </a:pPr>
            <a:r>
              <a:rPr lang="en-US" sz="2800" dirty="0">
                <a:solidFill>
                  <a:srgbClr val="FFFFFF"/>
                </a:solidFill>
                <a:latin typeface="Telegraf"/>
                <a:ea typeface="Telegraf"/>
                <a:cs typeface="Telegraf"/>
                <a:sym typeface="Telegraf"/>
              </a:rPr>
              <a:t> </a:t>
            </a:r>
            <a:r>
              <a:rPr lang="en-US" sz="2800" b="1" dirty="0">
                <a:solidFill>
                  <a:schemeClr val="tx2">
                    <a:lumMod val="60000"/>
                    <a:lumOff val="40000"/>
                  </a:schemeClr>
                </a:solidFill>
                <a:latin typeface="Telegraf"/>
                <a:ea typeface="Telegraf"/>
                <a:cs typeface="Telegraf"/>
                <a:sym typeface="Telegraf"/>
              </a:rPr>
              <a:t>Data Handling &amp; Analysis </a:t>
            </a:r>
            <a:r>
              <a:rPr lang="en-US" sz="2800" dirty="0">
                <a:solidFill>
                  <a:srgbClr val="FFFFFF"/>
                </a:solidFill>
                <a:latin typeface="Telegraf"/>
                <a:ea typeface="Telegraf"/>
                <a:cs typeface="Telegraf"/>
                <a:sym typeface="Telegraf"/>
              </a:rPr>
              <a:t>-  To manage datasets (crime, routes, time data) , To compute safety scores automatically</a:t>
            </a:r>
          </a:p>
          <a:p>
            <a:pPr marL="514350" indent="-514350">
              <a:lnSpc>
                <a:spcPct val="150000"/>
              </a:lnSpc>
              <a:spcBef>
                <a:spcPct val="0"/>
              </a:spcBef>
              <a:buAutoNum type="arabicPeriod"/>
            </a:pPr>
            <a:r>
              <a:rPr lang="en-US" sz="2800" b="1" dirty="0">
                <a:solidFill>
                  <a:schemeClr val="bg1"/>
                </a:solidFill>
                <a:latin typeface="Telegraf"/>
                <a:ea typeface="Telegraf"/>
                <a:cs typeface="Telegraf"/>
                <a:sym typeface="Telegraf"/>
              </a:rPr>
              <a:t> </a:t>
            </a:r>
            <a:r>
              <a:rPr lang="en-US" sz="2800" b="1" dirty="0">
                <a:solidFill>
                  <a:schemeClr val="tx2">
                    <a:lumMod val="60000"/>
                    <a:lumOff val="40000"/>
                  </a:schemeClr>
                </a:solidFill>
                <a:latin typeface="Telegraf"/>
                <a:ea typeface="Telegraf"/>
                <a:cs typeface="Telegraf"/>
                <a:sym typeface="Telegraf"/>
              </a:rPr>
              <a:t>Artificial Intelligence / ML Concepts  </a:t>
            </a:r>
            <a:r>
              <a:rPr lang="en-US" sz="2800" dirty="0">
                <a:solidFill>
                  <a:srgbClr val="FFFFFF"/>
                </a:solidFill>
                <a:latin typeface="Telegraf"/>
                <a:ea typeface="Telegraf"/>
                <a:cs typeface="Telegraf"/>
                <a:sym typeface="Telegraf"/>
              </a:rPr>
              <a:t>- To convert raw data → intelligent decisions ,To classify routes as safe / risky</a:t>
            </a:r>
          </a:p>
          <a:p>
            <a:pPr marL="514350" indent="-514350">
              <a:lnSpc>
                <a:spcPct val="150000"/>
              </a:lnSpc>
              <a:spcBef>
                <a:spcPct val="0"/>
              </a:spcBef>
              <a:buAutoNum type="arabicPeriod"/>
            </a:pPr>
            <a:r>
              <a:rPr lang="en-US" sz="2800" dirty="0">
                <a:solidFill>
                  <a:srgbClr val="FFFFFF"/>
                </a:solidFill>
                <a:latin typeface="Telegraf"/>
                <a:ea typeface="Telegraf"/>
                <a:cs typeface="Telegraf"/>
                <a:sym typeface="Telegraf"/>
              </a:rPr>
              <a:t> </a:t>
            </a:r>
            <a:r>
              <a:rPr lang="en-US" sz="2800" b="1" dirty="0">
                <a:solidFill>
                  <a:schemeClr val="tx2">
                    <a:lumMod val="60000"/>
                    <a:lumOff val="40000"/>
                  </a:schemeClr>
                </a:solidFill>
                <a:latin typeface="Telegraf"/>
                <a:ea typeface="Telegraf"/>
                <a:cs typeface="Telegraf"/>
                <a:sym typeface="Telegraf"/>
              </a:rPr>
              <a:t>Natural Language Processing (NLP) </a:t>
            </a:r>
            <a:r>
              <a:rPr lang="en-US" sz="2800" dirty="0">
                <a:solidFill>
                  <a:srgbClr val="FFFFFF"/>
                </a:solidFill>
                <a:latin typeface="Telegraf"/>
                <a:ea typeface="Telegraf"/>
                <a:cs typeface="Telegraf"/>
                <a:sym typeface="Telegraf"/>
              </a:rPr>
              <a:t>- Detect words like: “attack, harassment, robbery”</a:t>
            </a:r>
          </a:p>
          <a:p>
            <a:pPr marL="514350" indent="-514350">
              <a:lnSpc>
                <a:spcPct val="150000"/>
              </a:lnSpc>
              <a:spcBef>
                <a:spcPct val="0"/>
              </a:spcBef>
              <a:buAutoNum type="arabicPeriod"/>
            </a:pPr>
            <a:r>
              <a:rPr lang="en-US" sz="2800" b="1" dirty="0">
                <a:solidFill>
                  <a:schemeClr val="bg1"/>
                </a:solidFill>
                <a:latin typeface="Telegraf"/>
                <a:ea typeface="Telegraf"/>
                <a:cs typeface="Telegraf"/>
                <a:sym typeface="Telegraf"/>
              </a:rPr>
              <a:t> </a:t>
            </a:r>
            <a:r>
              <a:rPr lang="en-US" sz="2800" b="1" dirty="0">
                <a:solidFill>
                  <a:schemeClr val="tx2">
                    <a:lumMod val="60000"/>
                    <a:lumOff val="40000"/>
                  </a:schemeClr>
                </a:solidFill>
                <a:latin typeface="Telegraf"/>
                <a:ea typeface="Telegraf"/>
                <a:cs typeface="Telegraf"/>
                <a:sym typeface="Telegraf"/>
              </a:rPr>
              <a:t>Real-Time Monitoring System </a:t>
            </a:r>
            <a:r>
              <a:rPr lang="en-US" sz="2800" dirty="0">
                <a:solidFill>
                  <a:srgbClr val="FFFFFF"/>
                </a:solidFill>
                <a:latin typeface="Telegraf"/>
                <a:ea typeface="Telegraf"/>
                <a:cs typeface="Telegraf"/>
                <a:sym typeface="Telegraf"/>
              </a:rPr>
              <a:t>-  Timer-based safety checks, Non-response detection</a:t>
            </a:r>
          </a:p>
          <a:p>
            <a:pPr marL="514350" indent="-514350">
              <a:lnSpc>
                <a:spcPct val="150000"/>
              </a:lnSpc>
              <a:spcBef>
                <a:spcPct val="0"/>
              </a:spcBef>
              <a:buAutoNum type="arabicPeriod"/>
            </a:pPr>
            <a:r>
              <a:rPr lang="en-US" sz="2800" dirty="0">
                <a:solidFill>
                  <a:srgbClr val="FFFFFF"/>
                </a:solidFill>
                <a:latin typeface="Telegraf"/>
                <a:ea typeface="Telegraf"/>
                <a:cs typeface="Telegraf"/>
                <a:sym typeface="Telegraf"/>
              </a:rPr>
              <a:t> </a:t>
            </a:r>
            <a:r>
              <a:rPr lang="en-US" sz="2800" b="1" dirty="0">
                <a:solidFill>
                  <a:schemeClr val="tx2">
                    <a:lumMod val="60000"/>
                    <a:lumOff val="40000"/>
                  </a:schemeClr>
                </a:solidFill>
                <a:latin typeface="Telegraf"/>
                <a:ea typeface="Telegraf"/>
                <a:cs typeface="Telegraf"/>
                <a:sym typeface="Telegraf"/>
              </a:rPr>
              <a:t>Cyber Security Concepts </a:t>
            </a:r>
            <a:r>
              <a:rPr lang="en-US" sz="2800" dirty="0">
                <a:solidFill>
                  <a:srgbClr val="FFFFFF"/>
                </a:solidFill>
                <a:latin typeface="Telegraf"/>
                <a:ea typeface="Telegraf"/>
                <a:cs typeface="Telegraf"/>
                <a:sym typeface="Telegraf"/>
              </a:rPr>
              <a:t>– Authentication, Data protection, Secure communication</a:t>
            </a:r>
          </a:p>
        </p:txBody>
      </p:sp>
    </p:spTree>
    <p:extLst>
      <p:ext uri="{BB962C8B-B14F-4D97-AF65-F5344CB8AC3E}">
        <p14:creationId xmlns:p14="http://schemas.microsoft.com/office/powerpoint/2010/main" val="41764516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4" name="TextBox 4"/>
          <p:cNvSpPr txBox="1"/>
          <p:nvPr/>
        </p:nvSpPr>
        <p:spPr>
          <a:xfrm>
            <a:off x="2578851" y="838200"/>
            <a:ext cx="13977089" cy="1708150"/>
          </a:xfrm>
          <a:prstGeom prst="rect">
            <a:avLst/>
          </a:prstGeom>
        </p:spPr>
        <p:txBody>
          <a:bodyPr lIns="0" tIns="0" rIns="0" bIns="0" rtlCol="0" anchor="t">
            <a:spAutoFit/>
          </a:bodyPr>
          <a:lstStyle/>
          <a:p>
            <a:pPr algn="ctr">
              <a:lnSpc>
                <a:spcPts val="10999"/>
              </a:lnSpc>
            </a:pPr>
            <a:r>
              <a:rPr lang="en-US" sz="9999" b="1">
                <a:solidFill>
                  <a:srgbClr val="FFFFFF"/>
                </a:solidFill>
                <a:latin typeface="Cooper Hewitt Bold"/>
                <a:ea typeface="Cooper Hewitt Bold"/>
                <a:cs typeface="Cooper Hewitt Bold"/>
                <a:sym typeface="Cooper Hewitt Bold"/>
              </a:rPr>
              <a:t>CONCLUSION</a:t>
            </a:r>
          </a:p>
        </p:txBody>
      </p:sp>
      <p:sp>
        <p:nvSpPr>
          <p:cNvPr id="5" name="Freeform 5"/>
          <p:cNvSpPr/>
          <p:nvPr/>
        </p:nvSpPr>
        <p:spPr>
          <a:xfrm flipH="1">
            <a:off x="15791796" y="1299639"/>
            <a:ext cx="1172098" cy="975772"/>
          </a:xfrm>
          <a:custGeom>
            <a:avLst/>
            <a:gdLst/>
            <a:ahLst/>
            <a:cxnLst/>
            <a:rect l="l" t="t" r="r" b="b"/>
            <a:pathLst>
              <a:path w="1172098" h="975772">
                <a:moveTo>
                  <a:pt x="1172098" y="0"/>
                </a:moveTo>
                <a:lnTo>
                  <a:pt x="0" y="0"/>
                </a:lnTo>
                <a:lnTo>
                  <a:pt x="0" y="975772"/>
                </a:lnTo>
                <a:lnTo>
                  <a:pt x="1172098" y="975772"/>
                </a:lnTo>
                <a:lnTo>
                  <a:pt x="1172098"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Freeform 6"/>
          <p:cNvSpPr/>
          <p:nvPr/>
        </p:nvSpPr>
        <p:spPr>
          <a:xfrm>
            <a:off x="926775" y="4661564"/>
            <a:ext cx="1172098" cy="975772"/>
          </a:xfrm>
          <a:custGeom>
            <a:avLst/>
            <a:gdLst/>
            <a:ahLst/>
            <a:cxnLst/>
            <a:rect l="l" t="t" r="r" b="b"/>
            <a:pathLst>
              <a:path w="1172098" h="975772">
                <a:moveTo>
                  <a:pt x="0" y="0"/>
                </a:moveTo>
                <a:lnTo>
                  <a:pt x="1172098" y="0"/>
                </a:lnTo>
                <a:lnTo>
                  <a:pt x="1172098" y="975772"/>
                </a:lnTo>
                <a:lnTo>
                  <a:pt x="0" y="97577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7" name="Freeform 7"/>
          <p:cNvSpPr/>
          <p:nvPr/>
        </p:nvSpPr>
        <p:spPr>
          <a:xfrm flipH="1" flipV="1">
            <a:off x="-1" y="8630600"/>
            <a:ext cx="18288000" cy="1656400"/>
          </a:xfrm>
          <a:custGeom>
            <a:avLst/>
            <a:gdLst/>
            <a:ahLst/>
            <a:cxnLst/>
            <a:rect l="l" t="t" r="r" b="b"/>
            <a:pathLst>
              <a:path w="23426234" h="1656400">
                <a:moveTo>
                  <a:pt x="23426234" y="1656400"/>
                </a:moveTo>
                <a:lnTo>
                  <a:pt x="0" y="1656400"/>
                </a:lnTo>
                <a:lnTo>
                  <a:pt x="0" y="0"/>
                </a:lnTo>
                <a:lnTo>
                  <a:pt x="23426234" y="0"/>
                </a:lnTo>
                <a:lnTo>
                  <a:pt x="23426234" y="1656400"/>
                </a:lnTo>
                <a:close/>
              </a:path>
            </a:pathLst>
          </a:custGeom>
          <a:blipFill>
            <a:blip>
              <a:extLst>
                <a:ext uri="{96DAC541-7B7A-43D3-8B79-37D633B846F1}">
                  <asvg:svgBlip xmlns:asvg="http://schemas.microsoft.com/office/drawing/2016/SVG/main" r:embed="rId3"/>
                </a:ext>
              </a:extLst>
            </a:blip>
            <a:stretch>
              <a:fillRect/>
            </a:stretch>
          </a:blipFill>
        </p:spPr>
      </p:sp>
      <p:sp>
        <p:nvSpPr>
          <p:cNvPr id="8" name="TextBox 8"/>
          <p:cNvSpPr txBox="1"/>
          <p:nvPr/>
        </p:nvSpPr>
        <p:spPr>
          <a:xfrm>
            <a:off x="2578851" y="2789748"/>
            <a:ext cx="11834300" cy="5993836"/>
          </a:xfrm>
          <a:prstGeom prst="rect">
            <a:avLst/>
          </a:prstGeom>
        </p:spPr>
        <p:txBody>
          <a:bodyPr lIns="0" tIns="0" rIns="0" bIns="0" rtlCol="0" anchor="t">
            <a:spAutoFit/>
          </a:bodyPr>
          <a:lstStyle/>
          <a:p>
            <a:pPr algn="just">
              <a:lnSpc>
                <a:spcPts val="4278"/>
              </a:lnSpc>
              <a:spcBef>
                <a:spcPct val="0"/>
              </a:spcBef>
            </a:pPr>
            <a:r>
              <a:rPr lang="en-US" sz="3889">
                <a:solidFill>
                  <a:srgbClr val="FAFDFD"/>
                </a:solidFill>
                <a:latin typeface="Cooper Hewitt"/>
                <a:ea typeface="Cooper Hewitt"/>
                <a:cs typeface="Cooper Hewitt"/>
                <a:sym typeface="Cooper Hewitt"/>
              </a:rPr>
              <a:t>By leveraging AI and available data sources, we can develop innovative solutions like SafeRoute that go beyond existing apps, providing proactive, intelligent safety for users. While some problems cannot be completely solved, AI enables prediction, real-time monitoring, and timely assistance, helping users effectively when risk arises. Despite a few limitations, our motivation was to take a step forward in creating a safer, faster, and smarter version of women safety apps, demonstrating how technology can improve protection and make travel safer for everyone.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4" name="TextBox 4"/>
          <p:cNvSpPr txBox="1"/>
          <p:nvPr/>
        </p:nvSpPr>
        <p:spPr>
          <a:xfrm>
            <a:off x="3193900" y="1410259"/>
            <a:ext cx="11900200" cy="6035675"/>
          </a:xfrm>
          <a:prstGeom prst="rect">
            <a:avLst/>
          </a:prstGeom>
        </p:spPr>
        <p:txBody>
          <a:bodyPr lIns="0" tIns="0" rIns="0" bIns="0" rtlCol="0" anchor="t">
            <a:spAutoFit/>
          </a:bodyPr>
          <a:lstStyle/>
          <a:p>
            <a:pPr algn="ctr">
              <a:lnSpc>
                <a:spcPts val="22000"/>
              </a:lnSpc>
            </a:pPr>
            <a:r>
              <a:rPr lang="en-US" sz="20000" dirty="0">
                <a:solidFill>
                  <a:srgbClr val="FAFDFD"/>
                </a:solidFill>
                <a:latin typeface="Times New Roman MT"/>
                <a:ea typeface="Times New Roman MT"/>
                <a:cs typeface="Times New Roman MT"/>
                <a:sym typeface="Times New Roman MT"/>
              </a:rPr>
              <a:t>THANK </a:t>
            </a:r>
            <a:r>
              <a:rPr lang="en-US" sz="20000" dirty="0">
                <a:solidFill>
                  <a:srgbClr val="FFFFFF"/>
                </a:solidFill>
                <a:latin typeface="Times New Roman MT"/>
                <a:ea typeface="Times New Roman MT"/>
                <a:cs typeface="Times New Roman MT"/>
                <a:sym typeface="Times New Roman MT"/>
              </a:rPr>
              <a:t>YOU</a:t>
            </a:r>
          </a:p>
        </p:txBody>
      </p:sp>
      <p:sp>
        <p:nvSpPr>
          <p:cNvPr id="5" name="Freeform 5"/>
          <p:cNvSpPr/>
          <p:nvPr/>
        </p:nvSpPr>
        <p:spPr>
          <a:xfrm flipH="1">
            <a:off x="13660370" y="6041036"/>
            <a:ext cx="1335476" cy="1111784"/>
          </a:xfrm>
          <a:custGeom>
            <a:avLst/>
            <a:gdLst/>
            <a:ahLst/>
            <a:cxnLst/>
            <a:rect l="l" t="t" r="r" b="b"/>
            <a:pathLst>
              <a:path w="1335476" h="1111784">
                <a:moveTo>
                  <a:pt x="1335476" y="0"/>
                </a:moveTo>
                <a:lnTo>
                  <a:pt x="0" y="0"/>
                </a:lnTo>
                <a:lnTo>
                  <a:pt x="0" y="1111784"/>
                </a:lnTo>
                <a:lnTo>
                  <a:pt x="1335476" y="1111784"/>
                </a:lnTo>
                <a:lnTo>
                  <a:pt x="1335476"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Freeform 6"/>
          <p:cNvSpPr/>
          <p:nvPr/>
        </p:nvSpPr>
        <p:spPr>
          <a:xfrm>
            <a:off x="3292154" y="6041036"/>
            <a:ext cx="1335476" cy="1111784"/>
          </a:xfrm>
          <a:custGeom>
            <a:avLst/>
            <a:gdLst/>
            <a:ahLst/>
            <a:cxnLst/>
            <a:rect l="l" t="t" r="r" b="b"/>
            <a:pathLst>
              <a:path w="1335476" h="1111784">
                <a:moveTo>
                  <a:pt x="0" y="0"/>
                </a:moveTo>
                <a:lnTo>
                  <a:pt x="1335476" y="0"/>
                </a:lnTo>
                <a:lnTo>
                  <a:pt x="1335476" y="1111784"/>
                </a:lnTo>
                <a:lnTo>
                  <a:pt x="0" y="111178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7" name="Freeform 7"/>
          <p:cNvSpPr/>
          <p:nvPr/>
        </p:nvSpPr>
        <p:spPr>
          <a:xfrm flipH="1" flipV="1">
            <a:off x="-2" y="8630600"/>
            <a:ext cx="18288001" cy="1656400"/>
          </a:xfrm>
          <a:custGeom>
            <a:avLst/>
            <a:gdLst/>
            <a:ahLst/>
            <a:cxnLst/>
            <a:rect l="l" t="t" r="r" b="b"/>
            <a:pathLst>
              <a:path w="23426234" h="1656400">
                <a:moveTo>
                  <a:pt x="23426234" y="1656400"/>
                </a:moveTo>
                <a:lnTo>
                  <a:pt x="0" y="1656400"/>
                </a:lnTo>
                <a:lnTo>
                  <a:pt x="0" y="0"/>
                </a:lnTo>
                <a:lnTo>
                  <a:pt x="23426234" y="0"/>
                </a:lnTo>
                <a:lnTo>
                  <a:pt x="23426234" y="1656400"/>
                </a:lnTo>
                <a:close/>
              </a:path>
            </a:pathLst>
          </a:custGeom>
          <a:blipFill>
            <a:blip>
              <a:extLst>
                <a:ext uri="{96DAC541-7B7A-43D3-8B79-37D633B846F1}">
                  <asvg:svgBlip xmlns:asvg="http://schemas.microsoft.com/office/drawing/2016/SVG/main" r:embed="rId3"/>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130</TotalTime>
  <Words>911</Words>
  <Application>Microsoft Office PowerPoint</Application>
  <PresentationFormat>Custom</PresentationFormat>
  <Paragraphs>124</Paragraphs>
  <Slides>18</Slides>
  <Notes>0</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18</vt:i4>
      </vt:variant>
    </vt:vector>
  </HeadingPairs>
  <TitlesOfParts>
    <vt:vector size="33" baseType="lpstr">
      <vt:lpstr>Inria Serif</vt:lpstr>
      <vt:lpstr>Arial</vt:lpstr>
      <vt:lpstr>Alice</vt:lpstr>
      <vt:lpstr>Cambria Math</vt:lpstr>
      <vt:lpstr>Times New Roman MT</vt:lpstr>
      <vt:lpstr>Aptos Display</vt:lpstr>
      <vt:lpstr>Wingdings</vt:lpstr>
      <vt:lpstr>Cooper Hewitt Bold</vt:lpstr>
      <vt:lpstr>Canva Sans</vt:lpstr>
      <vt:lpstr>Canva Sans Bold</vt:lpstr>
      <vt:lpstr>Cooper Hewitt</vt:lpstr>
      <vt:lpstr>Times New Roman</vt:lpstr>
      <vt:lpstr>Aptos</vt:lpstr>
      <vt:lpstr>Telegraf</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SAFE ROUTE: An AI-Based Intelligent Travel Guardian for Women Safety</dc:title>
  <dc:creator>REDDY JAHNAVI</dc:creator>
  <cp:lastModifiedBy>REDDY JAHNAVI</cp:lastModifiedBy>
  <cp:revision>9</cp:revision>
  <dcterms:created xsi:type="dcterms:W3CDTF">2006-08-16T00:00:00Z</dcterms:created>
  <dcterms:modified xsi:type="dcterms:W3CDTF">2026-04-30T11:39:48Z</dcterms:modified>
  <dc:identifier>DAHAEnYEdEQ</dc:identifier>
</cp:coreProperties>
</file>